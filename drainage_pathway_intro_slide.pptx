
<file path=[Content_Types].xml><?xml version="1.0" encoding="utf-8"?>
<Types xmlns="http://schemas.openxmlformats.org/package/2006/content-types">
  <Default Extension="emf" ContentType="image/x-emf"/>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8"/>
  </p:notesMasterIdLst>
  <p:sldIdLst>
    <p:sldId id="256" r:id="rId2"/>
    <p:sldId id="294" r:id="rId3"/>
    <p:sldId id="258" r:id="rId4"/>
    <p:sldId id="300" r:id="rId5"/>
    <p:sldId id="308" r:id="rId6"/>
    <p:sldId id="309" r:id="rId7"/>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7367"/>
    <p:restoredTop sz="94610"/>
  </p:normalViewPr>
  <p:slideViewPr>
    <p:cSldViewPr snapToGrid="0" snapToObjects="1">
      <p:cViewPr varScale="1">
        <p:scale>
          <a:sx n="116" d="100"/>
          <a:sy n="116" d="100"/>
        </p:scale>
        <p:origin x="208" y="30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notesMaster" Target="notesMasters/notesMaster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tableStyles" Target="tableStyle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theme" Target="theme/theme1.xml"/><Relationship Id="rId5" Type="http://schemas.openxmlformats.org/officeDocument/2006/relationships/slide" Target="slides/slide4.xml"/><Relationship Id="rId10"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39222404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introduction slide explains the clinical need from the surgeon's perspective. The frontal sinus drainage pathway is the functional route that must be opened during frontal sinusotomy. The problem is that the route is not directly visible in the operative field and can be shifted by patient-specific frontal recess cells. If the surgeon does not clearly know the pathway beforehand, the operation becomes a difficult angled dissection in a narrow area close to the orbit, anterior skull base, anterior ethmoid artery, and cribriform plate; this can lead to incomplete clearance, recurrent obstruction, and unnecessary trauma. Once the pathway is known from CT-based 3D mapping, it becomes a patient-specific surgical roadmap: the surgeon can identify IFAC cells, anticipate the safest route, choose the correct extent of surgery, cannulate the frontal sinus more confidently, and communicate the plan with trainees. This motivates our work: automatic or assisted drainage pathway mapping can support safer and more reproducible planning.</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AF281D5-B345-0701-2C23-A5BDF04C277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5746E6B-3CD6-1B04-2120-AEA63872F2DB}"/>
              </a:ext>
            </a:extLst>
          </p:cNvPr>
          <p:cNvSpPr>
            <a:spLocks noGrp="1" noRot="1" noChangeAspect="1"/>
          </p:cNvSpPr>
          <p:nvPr>
            <p:ph type="sldImg"/>
          </p:nvPr>
        </p:nvSpPr>
        <p:spPr/>
      </p:sp>
      <mc:AlternateContent xmlns:mc="http://schemas.openxmlformats.org/markup-compatibility/2006" xmlns:a14="http://schemas.microsoft.com/office/drawing/2010/main">
        <mc:Choice Requires="a14">
          <p:sp>
            <p:nvSpPr>
              <p:cNvPr id="3" name="Notes Placeholder 2">
                <a:extLst>
                  <a:ext uri="{FF2B5EF4-FFF2-40B4-BE49-F238E27FC236}">
                    <a16:creationId xmlns:a16="http://schemas.microsoft.com/office/drawing/2014/main" id="{EC1D2AE9-8ED5-5A52-07A9-BF8D9D839660}"/>
                  </a:ext>
                </a:extLst>
              </p:cNvPr>
              <p:cNvSpPr>
                <a:spLocks noGrp="1"/>
              </p:cNvSpPr>
              <p:nvPr>
                <p:ph type="body" idx="1"/>
              </p:nvPr>
            </p:nvSpPr>
            <p:spPr/>
            <p:txBody>
              <a:bodyPr/>
              <a:lstStyle/>
              <a:p>
                <a14:m>
                  <m:oMath xmlns:m="http://schemas.openxmlformats.org/officeDocument/2006/math">
                    <m:sSub>
                      <m:sSubPr>
                        <m:ctrlPr>
                          <a:rPr lang="en-ID" sz="1200" i="1" kern="1200" smtClean="0">
                            <a:solidFill>
                              <a:schemeClr val="tx1"/>
                            </a:solidFill>
                            <a:effectLst/>
                            <a:latin typeface="Cambria Math" panose="02040503050406030204" pitchFamily="18" charset="0"/>
                            <a:ea typeface="+mn-ea"/>
                            <a:cs typeface="+mn-cs"/>
                          </a:rPr>
                        </m:ctrlPr>
                      </m:sSubPr>
                      <m:e>
                        <m:r>
                          <a:rPr lang="en-US" sz="1200" i="1" kern="1200">
                            <a:solidFill>
                              <a:schemeClr val="tx1"/>
                            </a:solidFill>
                            <a:effectLst/>
                            <a:latin typeface="Cambria Math" panose="02040503050406030204" pitchFamily="18" charset="0"/>
                            <a:ea typeface="+mn-ea"/>
                            <a:cs typeface="+mn-cs"/>
                          </a:rPr>
                          <m:t>𝐺</m:t>
                        </m:r>
                      </m:e>
                      <m:sub>
                        <m:r>
                          <a:rPr lang="en-US" sz="1200" i="1" kern="1200">
                            <a:solidFill>
                              <a:schemeClr val="tx1"/>
                            </a:solidFill>
                            <a:effectLst/>
                            <a:latin typeface="Cambria Math" panose="02040503050406030204" pitchFamily="18" charset="0"/>
                            <a:ea typeface="+mn-ea"/>
                            <a:cs typeface="+mn-cs"/>
                          </a:rPr>
                          <m:t>8</m:t>
                        </m:r>
                      </m:sub>
                    </m:sSub>
                  </m:oMath>
                </a14:m>
                <a:r>
                  <a:rPr lang="en-US" sz="1200" kern="1200" dirty="0">
                    <a:solidFill>
                      <a:schemeClr val="tx1"/>
                    </a:solidFill>
                    <a:effectLst/>
                    <a:latin typeface="+mn-lt"/>
                    <a:ea typeface="+mn-ea"/>
                    <a:cs typeface="+mn-cs"/>
                  </a:rPr>
                  <a:t> denotes the discrete roto-translation group used in the model, and </a:t>
                </a:r>
                <a14:m>
                  <m:oMath xmlns:m="http://schemas.openxmlformats.org/officeDocument/2006/math">
                    <m:sSub>
                      <m:sSubPr>
                        <m:ctrlPr>
                          <a:rPr lang="en-ID" sz="1200" i="1" kern="1200">
                            <a:solidFill>
                              <a:schemeClr val="tx1"/>
                            </a:solidFill>
                            <a:effectLst/>
                            <a:latin typeface="Cambria Math" panose="02040503050406030204" pitchFamily="18" charset="0"/>
                            <a:ea typeface="+mn-ea"/>
                            <a:cs typeface="+mn-cs"/>
                          </a:rPr>
                        </m:ctrlPr>
                      </m:sSubPr>
                      <m:e>
                        <m:r>
                          <a:rPr lang="en-US" sz="1200" i="1" kern="1200">
                            <a:solidFill>
                              <a:schemeClr val="tx1"/>
                            </a:solidFill>
                            <a:effectLst/>
                            <a:latin typeface="Cambria Math" panose="02040503050406030204" pitchFamily="18" charset="0"/>
                            <a:ea typeface="+mn-ea"/>
                            <a:cs typeface="+mn-cs"/>
                          </a:rPr>
                          <m:t>𝐶</m:t>
                        </m:r>
                      </m:e>
                      <m:sub>
                        <m:r>
                          <a:rPr lang="en-US" sz="1200" i="1" kern="1200">
                            <a:solidFill>
                              <a:schemeClr val="tx1"/>
                            </a:solidFill>
                            <a:effectLst/>
                            <a:latin typeface="Cambria Math" panose="02040503050406030204" pitchFamily="18" charset="0"/>
                            <a:ea typeface="+mn-ea"/>
                            <a:cs typeface="+mn-cs"/>
                          </a:rPr>
                          <m:t>8</m:t>
                        </m:r>
                      </m:sub>
                    </m:sSub>
                  </m:oMath>
                </a14:m>
                <a:r>
                  <a:rPr lang="en-US" sz="1200" kern="1200" dirty="0">
                    <a:solidFill>
                      <a:schemeClr val="tx1"/>
                    </a:solidFill>
                    <a:effectLst/>
                    <a:latin typeface="+mn-lt"/>
                    <a:ea typeface="+mn-ea"/>
                    <a:cs typeface="+mn-cs"/>
                  </a:rPr>
                  <a:t> denotes the cyclic group containing eight sampled rotations.</a:t>
                </a:r>
                <a:r>
                  <a:rPr lang="en-ID" dirty="0">
                    <a:effectLst/>
                  </a:rPr>
                  <a:t> </a:t>
                </a:r>
              </a:p>
              <a:p>
                <a:endParaRPr lang="en-ID" dirty="0">
                  <a:effectLst/>
                </a:endParaRPr>
              </a:p>
              <a:p>
                <a:r>
                  <a:rPr lang="en-ID" dirty="0">
                    <a:effectLst/>
                  </a:rPr>
                  <a:t>Quantity, quality, modality, and the relationship between them</a:t>
                </a:r>
                <a:endParaRPr lang="en-US" dirty="0"/>
              </a:p>
            </p:txBody>
          </p:sp>
        </mc:Choice>
        <mc:Fallback xmlns="">
          <p:sp>
            <p:nvSpPr>
              <p:cNvPr id="3" name="Notes Placeholder 2">
                <a:extLst>
                  <a:ext uri="{FF2B5EF4-FFF2-40B4-BE49-F238E27FC236}">
                    <a16:creationId xmlns:a16="http://schemas.microsoft.com/office/drawing/2014/main" id="{3D0038E0-AC50-D676-C846-95E4FD3B1A26}"/>
                  </a:ext>
                </a:extLst>
              </p:cNvPr>
              <p:cNvSpPr>
                <a:spLocks noGrp="1"/>
              </p:cNvSpPr>
              <p:nvPr>
                <p:ph type="body" idx="1"/>
              </p:nvPr>
            </p:nvSpPr>
            <p:spPr/>
            <p:txBody>
              <a:bodyPr/>
              <a:lstStyle/>
              <a:p>
                <a:r>
                  <a:rPr lang="en-US" sz="1200" i="0" kern="1200">
                    <a:solidFill>
                      <a:schemeClr val="tx1"/>
                    </a:solidFill>
                    <a:effectLst/>
                    <a:latin typeface="+mn-lt"/>
                    <a:ea typeface="+mn-ea"/>
                    <a:cs typeface="+mn-cs"/>
                  </a:rPr>
                  <a:t>𝐺</a:t>
                </a:r>
                <a:r>
                  <a:rPr lang="en-ID" sz="1200" i="0" kern="1200">
                    <a:solidFill>
                      <a:schemeClr val="tx1"/>
                    </a:solidFill>
                    <a:effectLst/>
                    <a:latin typeface="+mn-lt"/>
                    <a:ea typeface="+mn-ea"/>
                    <a:cs typeface="+mn-cs"/>
                  </a:rPr>
                  <a:t>_</a:t>
                </a:r>
                <a:r>
                  <a:rPr lang="en-US" sz="1200" i="0" kern="1200">
                    <a:solidFill>
                      <a:schemeClr val="tx1"/>
                    </a:solidFill>
                    <a:effectLst/>
                    <a:latin typeface="+mn-lt"/>
                    <a:ea typeface="+mn-ea"/>
                    <a:cs typeface="+mn-cs"/>
                  </a:rPr>
                  <a:t>8</a:t>
                </a:r>
                <a:r>
                  <a:rPr lang="en-US" sz="1200" kern="1200" dirty="0">
                    <a:solidFill>
                      <a:schemeClr val="tx1"/>
                    </a:solidFill>
                    <a:effectLst/>
                    <a:latin typeface="+mn-lt"/>
                    <a:ea typeface="+mn-ea"/>
                    <a:cs typeface="+mn-cs"/>
                  </a:rPr>
                  <a:t> denotes the discrete roto-translation group used in the model, and </a:t>
                </a:r>
                <a:r>
                  <a:rPr lang="en-US" sz="1200" i="0" kern="1200">
                    <a:solidFill>
                      <a:schemeClr val="tx1"/>
                    </a:solidFill>
                    <a:effectLst/>
                    <a:latin typeface="+mn-lt"/>
                    <a:ea typeface="+mn-ea"/>
                    <a:cs typeface="+mn-cs"/>
                  </a:rPr>
                  <a:t>𝐶</a:t>
                </a:r>
                <a:r>
                  <a:rPr lang="en-ID" sz="1200" i="0" kern="1200">
                    <a:solidFill>
                      <a:schemeClr val="tx1"/>
                    </a:solidFill>
                    <a:effectLst/>
                    <a:latin typeface="+mn-lt"/>
                    <a:ea typeface="+mn-ea"/>
                    <a:cs typeface="+mn-cs"/>
                  </a:rPr>
                  <a:t>_</a:t>
                </a:r>
                <a:r>
                  <a:rPr lang="en-US" sz="1200" i="0" kern="1200">
                    <a:solidFill>
                      <a:schemeClr val="tx1"/>
                    </a:solidFill>
                    <a:effectLst/>
                    <a:latin typeface="+mn-lt"/>
                    <a:ea typeface="+mn-ea"/>
                    <a:cs typeface="+mn-cs"/>
                  </a:rPr>
                  <a:t>8</a:t>
                </a:r>
                <a:r>
                  <a:rPr lang="en-US" sz="1200" kern="1200" dirty="0">
                    <a:solidFill>
                      <a:schemeClr val="tx1"/>
                    </a:solidFill>
                    <a:effectLst/>
                    <a:latin typeface="+mn-lt"/>
                    <a:ea typeface="+mn-ea"/>
                    <a:cs typeface="+mn-cs"/>
                  </a:rPr>
                  <a:t> denotes the cyclic group containing eight sampled rotations.</a:t>
                </a:r>
                <a:r>
                  <a:rPr lang="en-ID" dirty="0">
                    <a:effectLst/>
                  </a:rPr>
                  <a:t> </a:t>
                </a:r>
                <a:endParaRPr lang="en-US" dirty="0"/>
              </a:p>
            </p:txBody>
          </p:sp>
        </mc:Fallback>
      </mc:AlternateContent>
      <p:sp>
        <p:nvSpPr>
          <p:cNvPr id="4" name="Slide Number Placeholder 3">
            <a:extLst>
              <a:ext uri="{FF2B5EF4-FFF2-40B4-BE49-F238E27FC236}">
                <a16:creationId xmlns:a16="http://schemas.microsoft.com/office/drawing/2014/main" id="{E2AA4D69-B632-F70C-1785-5B9F30809A5D}"/>
              </a:ext>
            </a:extLst>
          </p:cNvPr>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3431092397"/>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blank">
    <p:bg>
      <p:bgPr>
        <a:solidFill>
          <a:srgbClr val="F8FAFC"/>
        </a:solidFill>
        <a:effectLst/>
      </p:bgPr>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3" Type="http://schemas.openxmlformats.org/officeDocument/2006/relationships/image" Target="../media/image2.emf"/><Relationship Id="rId2" Type="http://schemas.openxmlformats.org/officeDocument/2006/relationships/notesSlide" Target="../notesSlides/notesSlide2.xml"/><Relationship Id="rId1" Type="http://schemas.openxmlformats.org/officeDocument/2006/relationships/slideLayout" Target="../slideLayouts/slideLayout1.xml"/><Relationship Id="rId5" Type="http://schemas.openxmlformats.org/officeDocument/2006/relationships/image" Target="../media/image4.png"/><Relationship Id="rId4" Type="http://schemas.openxmlformats.org/officeDocument/2006/relationships/image" Target="../media/image3.png"/></Relationships>
</file>

<file path=ppt/slides/_rels/slide3.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hyperlink" Target="https://drive.google.com/drive/folders/193_1ABszK4mLQScXwUZvtFmlgsvzx6Fc?usp=drive_link" TargetMode="Externa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7FAFC"/>
        </a:solidFill>
        <a:effectLst/>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E8A8A"/>
          </a:solidFill>
          <a:ln w="12700">
            <a:solidFill>
              <a:srgbClr val="0E8A8A">
                <a:alpha val="0"/>
              </a:srgbClr>
            </a:solidFill>
            <a:prstDash val="solid"/>
          </a:ln>
        </p:spPr>
        <p:txBody>
          <a:bodyPr/>
          <a:lstStyle/>
          <a:p>
            <a:endParaRPr lang="en-US"/>
          </a:p>
        </p:txBody>
      </p:sp>
      <p:sp>
        <p:nvSpPr>
          <p:cNvPr id="3" name="Shape 1"/>
          <p:cNvSpPr/>
          <p:nvPr/>
        </p:nvSpPr>
        <p:spPr>
          <a:xfrm>
            <a:off x="0" y="164592"/>
            <a:ext cx="12191695" cy="54864"/>
          </a:xfrm>
          <a:prstGeom prst="rect">
            <a:avLst/>
          </a:prstGeom>
          <a:solidFill>
            <a:srgbClr val="0B1F3A"/>
          </a:solidFill>
          <a:ln w="12700">
            <a:solidFill>
              <a:srgbClr val="0B1F3A">
                <a:alpha val="0"/>
              </a:srgbClr>
            </a:solidFill>
            <a:prstDash val="solid"/>
          </a:ln>
        </p:spPr>
        <p:txBody>
          <a:bodyPr/>
          <a:lstStyle/>
          <a:p>
            <a:endParaRPr lang="en-US"/>
          </a:p>
        </p:txBody>
      </p:sp>
      <p:sp>
        <p:nvSpPr>
          <p:cNvPr id="4" name="Text 2"/>
          <p:cNvSpPr/>
          <p:nvPr/>
        </p:nvSpPr>
        <p:spPr>
          <a:xfrm>
            <a:off x="502920" y="411480"/>
            <a:ext cx="7772400" cy="384048"/>
          </a:xfrm>
          <a:prstGeom prst="rect">
            <a:avLst/>
          </a:prstGeom>
          <a:noFill/>
          <a:ln/>
        </p:spPr>
        <p:txBody>
          <a:bodyPr wrap="square" lIns="0" tIns="0" rIns="0" bIns="0" rtlCol="0" anchor="ctr"/>
          <a:lstStyle/>
          <a:p>
            <a:pPr marL="0" indent="0">
              <a:buNone/>
            </a:pPr>
            <a:r>
              <a:rPr lang="en-US" sz="2700" b="1" dirty="0">
                <a:solidFill>
                  <a:srgbClr val="0B1F3A"/>
                </a:solidFill>
                <a:latin typeface="Aptos Display" pitchFamily="34" charset="0"/>
                <a:ea typeface="Aptos Display" pitchFamily="34" charset="-122"/>
                <a:cs typeface="Aptos Display" pitchFamily="34" charset="-120"/>
              </a:rPr>
              <a:t>Frontal Sinus Drainage Pathway</a:t>
            </a:r>
            <a:endParaRPr lang="en-US" sz="2700" dirty="0"/>
          </a:p>
        </p:txBody>
      </p:sp>
      <p:sp>
        <p:nvSpPr>
          <p:cNvPr id="5" name="Text 3"/>
          <p:cNvSpPr/>
          <p:nvPr/>
        </p:nvSpPr>
        <p:spPr>
          <a:xfrm>
            <a:off x="512064" y="841248"/>
            <a:ext cx="10607040" cy="237744"/>
          </a:xfrm>
          <a:prstGeom prst="rect">
            <a:avLst/>
          </a:prstGeom>
          <a:noFill/>
          <a:ln/>
        </p:spPr>
        <p:txBody>
          <a:bodyPr wrap="square" lIns="0" tIns="0" rIns="0" bIns="0" rtlCol="0" anchor="ctr"/>
          <a:lstStyle/>
          <a:p>
            <a:pPr marL="0" indent="0">
              <a:buNone/>
            </a:pPr>
            <a:r>
              <a:rPr lang="en-US" sz="1250" dirty="0">
                <a:solidFill>
                  <a:srgbClr val="475467"/>
                </a:solidFill>
              </a:rPr>
              <a:t>Doctor viewpoint: know the route before entering a narrow, angled, high‑risk surgical corridor</a:t>
            </a:r>
            <a:endParaRPr lang="en-US" sz="1250" dirty="0"/>
          </a:p>
        </p:txBody>
      </p:sp>
      <p:sp>
        <p:nvSpPr>
          <p:cNvPr id="6" name="Shape 4"/>
          <p:cNvSpPr/>
          <p:nvPr/>
        </p:nvSpPr>
        <p:spPr>
          <a:xfrm>
            <a:off x="475488" y="1307592"/>
            <a:ext cx="5532120" cy="3886200"/>
          </a:xfrm>
          <a:prstGeom prst="roundRect">
            <a:avLst>
              <a:gd name="adj" fmla="val 1647"/>
            </a:avLst>
          </a:prstGeom>
          <a:solidFill>
            <a:srgbClr val="FFFFFF"/>
          </a:solidFill>
          <a:ln w="12700">
            <a:solidFill>
              <a:srgbClr val="D0D5DD"/>
            </a:solidFill>
            <a:prstDash val="solid"/>
          </a:ln>
        </p:spPr>
        <p:txBody>
          <a:bodyPr/>
          <a:lstStyle/>
          <a:p>
            <a:endParaRPr lang="en-US"/>
          </a:p>
        </p:txBody>
      </p:sp>
      <p:pic>
        <p:nvPicPr>
          <p:cNvPr id="7" name="Image 0" descr="/mnt/data/frontal_3d_mapping_imageonly.png"/>
          <p:cNvPicPr>
            <a:picLocks noChangeAspect="1"/>
          </p:cNvPicPr>
          <p:nvPr/>
        </p:nvPicPr>
        <p:blipFill>
          <a:blip r:embed="rId3"/>
          <a:srcRect l="2273" r="2273"/>
          <a:stretch/>
        </p:blipFill>
        <p:spPr>
          <a:xfrm>
            <a:off x="621792" y="1444752"/>
            <a:ext cx="5248656" cy="3447288"/>
          </a:xfrm>
          <a:prstGeom prst="rect">
            <a:avLst/>
          </a:prstGeom>
        </p:spPr>
      </p:pic>
      <p:sp>
        <p:nvSpPr>
          <p:cNvPr id="8" name="Text 5"/>
          <p:cNvSpPr/>
          <p:nvPr/>
        </p:nvSpPr>
        <p:spPr>
          <a:xfrm>
            <a:off x="713232" y="4919472"/>
            <a:ext cx="5074920" cy="201168"/>
          </a:xfrm>
          <a:prstGeom prst="rect">
            <a:avLst/>
          </a:prstGeom>
          <a:noFill/>
          <a:ln/>
        </p:spPr>
        <p:txBody>
          <a:bodyPr wrap="square" lIns="0" tIns="0" rIns="0" bIns="0" rtlCol="0" anchor="ctr"/>
          <a:lstStyle/>
          <a:p>
            <a:pPr marL="0" indent="0" algn="ctr">
              <a:buNone/>
            </a:pPr>
            <a:r>
              <a:rPr lang="en-US" sz="820" i="1" dirty="0">
                <a:solidFill>
                  <a:srgbClr val="475467"/>
                </a:solidFill>
              </a:rPr>
              <a:t>3D CT mapping converts a hidden outflow route into a visible surgical plan</a:t>
            </a:r>
            <a:endParaRPr lang="en-US" sz="820" dirty="0"/>
          </a:p>
        </p:txBody>
      </p:sp>
      <p:sp>
        <p:nvSpPr>
          <p:cNvPr id="9" name="Text 6"/>
          <p:cNvSpPr/>
          <p:nvPr/>
        </p:nvSpPr>
        <p:spPr>
          <a:xfrm>
            <a:off x="6382512" y="1316736"/>
            <a:ext cx="5212080" cy="292608"/>
          </a:xfrm>
          <a:prstGeom prst="rect">
            <a:avLst/>
          </a:prstGeom>
          <a:noFill/>
          <a:ln/>
        </p:spPr>
        <p:txBody>
          <a:bodyPr wrap="square" lIns="0" tIns="0" rIns="0" bIns="0" rtlCol="0" anchor="ctr"/>
          <a:lstStyle/>
          <a:p>
            <a:pPr marL="0" indent="0">
              <a:buNone/>
            </a:pPr>
            <a:r>
              <a:rPr lang="en-US" sz="1800" b="1" dirty="0">
                <a:solidFill>
                  <a:srgbClr val="0B1F3A"/>
                </a:solidFill>
              </a:rPr>
              <a:t>Why this matters clinically</a:t>
            </a:r>
            <a:endParaRPr lang="en-US" sz="1800" dirty="0"/>
          </a:p>
        </p:txBody>
      </p:sp>
      <p:sp>
        <p:nvSpPr>
          <p:cNvPr id="10" name="Text 7"/>
          <p:cNvSpPr/>
          <p:nvPr/>
        </p:nvSpPr>
        <p:spPr>
          <a:xfrm>
            <a:off x="6382512" y="1664208"/>
            <a:ext cx="5230368" cy="411480"/>
          </a:xfrm>
          <a:prstGeom prst="rect">
            <a:avLst/>
          </a:prstGeom>
          <a:noFill/>
          <a:ln/>
        </p:spPr>
        <p:txBody>
          <a:bodyPr wrap="square" lIns="254" tIns="254" rIns="254" bIns="254" rtlCol="0" anchor="ctr"/>
          <a:lstStyle/>
          <a:p>
            <a:pPr marL="0" indent="0">
              <a:buNone/>
            </a:pPr>
            <a:r>
              <a:rPr lang="en-US" sz="1360" b="1" dirty="0">
                <a:solidFill>
                  <a:srgbClr val="0E8A8A"/>
                </a:solidFill>
              </a:rPr>
              <a:t>The drainage pathway is the true surgical target—not just the sinus cavity.</a:t>
            </a:r>
            <a:endParaRPr lang="en-US" sz="1360" dirty="0"/>
          </a:p>
        </p:txBody>
      </p:sp>
      <p:sp>
        <p:nvSpPr>
          <p:cNvPr id="11" name="Shape 8"/>
          <p:cNvSpPr/>
          <p:nvPr/>
        </p:nvSpPr>
        <p:spPr>
          <a:xfrm>
            <a:off x="6382512" y="2240280"/>
            <a:ext cx="5212080" cy="841248"/>
          </a:xfrm>
          <a:prstGeom prst="roundRect">
            <a:avLst>
              <a:gd name="adj" fmla="val 7609"/>
            </a:avLst>
          </a:prstGeom>
          <a:solidFill>
            <a:srgbClr val="FEF3F2"/>
          </a:solidFill>
          <a:ln w="12700">
            <a:solidFill>
              <a:srgbClr val="F3B8B2"/>
            </a:solidFill>
            <a:prstDash val="solid"/>
          </a:ln>
        </p:spPr>
        <p:txBody>
          <a:bodyPr/>
          <a:lstStyle/>
          <a:p>
            <a:endParaRPr lang="en-US"/>
          </a:p>
        </p:txBody>
      </p:sp>
      <p:sp>
        <p:nvSpPr>
          <p:cNvPr id="12" name="Text 9"/>
          <p:cNvSpPr/>
          <p:nvPr/>
        </p:nvSpPr>
        <p:spPr>
          <a:xfrm>
            <a:off x="6556248" y="2359152"/>
            <a:ext cx="1645920" cy="182880"/>
          </a:xfrm>
          <a:prstGeom prst="rect">
            <a:avLst/>
          </a:prstGeom>
          <a:noFill/>
          <a:ln/>
        </p:spPr>
        <p:txBody>
          <a:bodyPr wrap="square" lIns="0" tIns="0" rIns="0" bIns="0" rtlCol="0" anchor="ctr"/>
          <a:lstStyle/>
          <a:p>
            <a:pPr marL="0" indent="0">
              <a:buNone/>
            </a:pPr>
            <a:r>
              <a:rPr lang="en-US" sz="930" b="1" dirty="0">
                <a:solidFill>
                  <a:srgbClr val="B42318"/>
                </a:solidFill>
              </a:rPr>
              <a:t>Current problem</a:t>
            </a:r>
            <a:endParaRPr lang="en-US" sz="930" dirty="0"/>
          </a:p>
        </p:txBody>
      </p:sp>
      <p:sp>
        <p:nvSpPr>
          <p:cNvPr id="13" name="Text 10"/>
          <p:cNvSpPr/>
          <p:nvPr/>
        </p:nvSpPr>
        <p:spPr>
          <a:xfrm>
            <a:off x="6556248" y="2596896"/>
            <a:ext cx="4709160" cy="384048"/>
          </a:xfrm>
          <a:prstGeom prst="rect">
            <a:avLst/>
          </a:prstGeom>
          <a:noFill/>
          <a:ln/>
        </p:spPr>
        <p:txBody>
          <a:bodyPr wrap="square" lIns="254" tIns="254" rIns="254" bIns="254" rtlCol="0" anchor="ctr">
            <a:normAutofit/>
          </a:bodyPr>
          <a:lstStyle/>
          <a:p>
            <a:pPr marL="0" indent="0">
              <a:buNone/>
            </a:pPr>
            <a:r>
              <a:rPr lang="en-US" sz="1230" dirty="0">
                <a:solidFill>
                  <a:srgbClr val="0B1F3A"/>
                </a:solidFill>
              </a:rPr>
              <a:t>2D CT requires surgeons to mentally reconstruct a patient‑specific 3D route; frontal recess cells can redirect or narrow it.</a:t>
            </a:r>
            <a:endParaRPr lang="en-US" sz="1230" dirty="0"/>
          </a:p>
        </p:txBody>
      </p:sp>
      <p:sp>
        <p:nvSpPr>
          <p:cNvPr id="14" name="Shape 11"/>
          <p:cNvSpPr/>
          <p:nvPr/>
        </p:nvSpPr>
        <p:spPr>
          <a:xfrm>
            <a:off x="6382512" y="3264408"/>
            <a:ext cx="5212080" cy="841248"/>
          </a:xfrm>
          <a:prstGeom prst="roundRect">
            <a:avLst>
              <a:gd name="adj" fmla="val 7609"/>
            </a:avLst>
          </a:prstGeom>
          <a:solidFill>
            <a:srgbClr val="FFF7ED"/>
          </a:solidFill>
          <a:ln w="12700">
            <a:solidFill>
              <a:srgbClr val="FED7AA"/>
            </a:solidFill>
            <a:prstDash val="solid"/>
          </a:ln>
        </p:spPr>
        <p:txBody>
          <a:bodyPr/>
          <a:lstStyle/>
          <a:p>
            <a:endParaRPr lang="en-US"/>
          </a:p>
        </p:txBody>
      </p:sp>
      <p:sp>
        <p:nvSpPr>
          <p:cNvPr id="15" name="Text 12"/>
          <p:cNvSpPr/>
          <p:nvPr/>
        </p:nvSpPr>
        <p:spPr>
          <a:xfrm>
            <a:off x="6556248" y="3383280"/>
            <a:ext cx="2011680" cy="182880"/>
          </a:xfrm>
          <a:prstGeom prst="rect">
            <a:avLst/>
          </a:prstGeom>
          <a:noFill/>
          <a:ln/>
        </p:spPr>
        <p:txBody>
          <a:bodyPr wrap="square" lIns="0" tIns="0" rIns="0" bIns="0" rtlCol="0" anchor="ctr"/>
          <a:lstStyle/>
          <a:p>
            <a:pPr marL="0" indent="0">
              <a:buNone/>
            </a:pPr>
            <a:r>
              <a:rPr lang="en-US" sz="930" b="1" dirty="0">
                <a:solidFill>
                  <a:srgbClr val="C2410C"/>
                </a:solidFill>
              </a:rPr>
              <a:t>If the pathway is not known</a:t>
            </a:r>
            <a:endParaRPr lang="en-US" sz="930" dirty="0"/>
          </a:p>
        </p:txBody>
      </p:sp>
      <p:sp>
        <p:nvSpPr>
          <p:cNvPr id="16" name="Text 13"/>
          <p:cNvSpPr/>
          <p:nvPr/>
        </p:nvSpPr>
        <p:spPr>
          <a:xfrm>
            <a:off x="6556248" y="3621024"/>
            <a:ext cx="4709160" cy="384048"/>
          </a:xfrm>
          <a:prstGeom prst="rect">
            <a:avLst/>
          </a:prstGeom>
          <a:noFill/>
          <a:ln/>
        </p:spPr>
        <p:txBody>
          <a:bodyPr wrap="square" lIns="254" tIns="254" rIns="254" bIns="254" rtlCol="0" anchor="ctr">
            <a:normAutofit fontScale="92500"/>
          </a:bodyPr>
          <a:lstStyle/>
          <a:p>
            <a:pPr marL="0" indent="0">
              <a:buNone/>
            </a:pPr>
            <a:r>
              <a:rPr lang="en-US" sz="1230" dirty="0">
                <a:solidFill>
                  <a:srgbClr val="0B1F3A"/>
                </a:solidFill>
              </a:rPr>
              <a:t>Dissection becomes uncertain: incomplete opening, restenosis/recurrent disease, and avoidable trauma near orbit/skull base.</a:t>
            </a:r>
            <a:endParaRPr lang="en-US" sz="1230" dirty="0"/>
          </a:p>
        </p:txBody>
      </p:sp>
      <p:sp>
        <p:nvSpPr>
          <p:cNvPr id="17" name="Shape 14"/>
          <p:cNvSpPr/>
          <p:nvPr/>
        </p:nvSpPr>
        <p:spPr>
          <a:xfrm>
            <a:off x="6382512" y="4297680"/>
            <a:ext cx="5212080" cy="896112"/>
          </a:xfrm>
          <a:prstGeom prst="roundRect">
            <a:avLst>
              <a:gd name="adj" fmla="val 7143"/>
            </a:avLst>
          </a:prstGeom>
          <a:solidFill>
            <a:srgbClr val="ECFDF3"/>
          </a:solidFill>
          <a:ln w="12700">
            <a:solidFill>
              <a:srgbClr val="ABEFC6"/>
            </a:solidFill>
            <a:prstDash val="solid"/>
          </a:ln>
        </p:spPr>
        <p:txBody>
          <a:bodyPr/>
          <a:lstStyle/>
          <a:p>
            <a:endParaRPr lang="en-US"/>
          </a:p>
        </p:txBody>
      </p:sp>
      <p:sp>
        <p:nvSpPr>
          <p:cNvPr id="18" name="Text 15"/>
          <p:cNvSpPr/>
          <p:nvPr/>
        </p:nvSpPr>
        <p:spPr>
          <a:xfrm>
            <a:off x="6556248" y="4425696"/>
            <a:ext cx="2011680" cy="182880"/>
          </a:xfrm>
          <a:prstGeom prst="rect">
            <a:avLst/>
          </a:prstGeom>
          <a:noFill/>
          <a:ln/>
        </p:spPr>
        <p:txBody>
          <a:bodyPr wrap="square" lIns="0" tIns="0" rIns="0" bIns="0" rtlCol="0" anchor="ctr"/>
          <a:lstStyle/>
          <a:p>
            <a:pPr marL="0" indent="0">
              <a:buNone/>
            </a:pPr>
            <a:r>
              <a:rPr lang="en-US" sz="930" b="1" dirty="0">
                <a:solidFill>
                  <a:srgbClr val="1B7F43"/>
                </a:solidFill>
              </a:rPr>
              <a:t>When the pathway is known</a:t>
            </a:r>
            <a:endParaRPr lang="en-US" sz="930" dirty="0"/>
          </a:p>
        </p:txBody>
      </p:sp>
      <p:sp>
        <p:nvSpPr>
          <p:cNvPr id="19" name="Text 16"/>
          <p:cNvSpPr/>
          <p:nvPr/>
        </p:nvSpPr>
        <p:spPr>
          <a:xfrm>
            <a:off x="6556248" y="4663440"/>
            <a:ext cx="4709160" cy="411480"/>
          </a:xfrm>
          <a:prstGeom prst="rect">
            <a:avLst/>
          </a:prstGeom>
          <a:noFill/>
          <a:ln/>
        </p:spPr>
        <p:txBody>
          <a:bodyPr wrap="square" lIns="254" tIns="254" rIns="254" bIns="254" rtlCol="0" anchor="ctr">
            <a:normAutofit/>
          </a:bodyPr>
          <a:lstStyle/>
          <a:p>
            <a:pPr marL="0" indent="0">
              <a:buNone/>
            </a:pPr>
            <a:r>
              <a:rPr lang="en-US" sz="1230" dirty="0">
                <a:solidFill>
                  <a:srgbClr val="0B1F3A"/>
                </a:solidFill>
              </a:rPr>
              <a:t>It becomes a personalized roadmap: identify IFAC cells → predict the route → choose the surgical extent → cannulate and open safely.</a:t>
            </a:r>
            <a:endParaRPr lang="en-US" sz="1230" dirty="0"/>
          </a:p>
        </p:txBody>
      </p:sp>
      <p:sp>
        <p:nvSpPr>
          <p:cNvPr id="20" name="Shape 17"/>
          <p:cNvSpPr/>
          <p:nvPr/>
        </p:nvSpPr>
        <p:spPr>
          <a:xfrm>
            <a:off x="475488" y="5559552"/>
            <a:ext cx="11119104" cy="694944"/>
          </a:xfrm>
          <a:prstGeom prst="roundRect">
            <a:avLst>
              <a:gd name="adj" fmla="val 7895"/>
            </a:avLst>
          </a:prstGeom>
          <a:solidFill>
            <a:srgbClr val="EEF6FF"/>
          </a:solidFill>
          <a:ln w="12700">
            <a:solidFill>
              <a:srgbClr val="B2DDFF"/>
            </a:solidFill>
            <a:prstDash val="solid"/>
          </a:ln>
        </p:spPr>
        <p:txBody>
          <a:bodyPr/>
          <a:lstStyle/>
          <a:p>
            <a:endParaRPr lang="en-US"/>
          </a:p>
        </p:txBody>
      </p:sp>
      <p:sp>
        <p:nvSpPr>
          <p:cNvPr id="21" name="Text 18"/>
          <p:cNvSpPr/>
          <p:nvPr/>
        </p:nvSpPr>
        <p:spPr>
          <a:xfrm>
            <a:off x="713232" y="5705856"/>
            <a:ext cx="1188720" cy="201168"/>
          </a:xfrm>
          <a:prstGeom prst="rect">
            <a:avLst/>
          </a:prstGeom>
          <a:noFill/>
          <a:ln/>
        </p:spPr>
        <p:txBody>
          <a:bodyPr wrap="square" lIns="0" tIns="0" rIns="0" bIns="0" rtlCol="0" anchor="ctr"/>
          <a:lstStyle/>
          <a:p>
            <a:pPr marL="0" indent="0">
              <a:buNone/>
            </a:pPr>
            <a:r>
              <a:rPr lang="en-US" sz="920" b="1" dirty="0">
                <a:solidFill>
                  <a:srgbClr val="175CD3"/>
                </a:solidFill>
              </a:rPr>
              <a:t>Evidence anchor</a:t>
            </a:r>
            <a:endParaRPr lang="en-US" sz="920" dirty="0"/>
          </a:p>
        </p:txBody>
      </p:sp>
      <p:sp>
        <p:nvSpPr>
          <p:cNvPr id="22" name="Text 19"/>
          <p:cNvSpPr/>
          <p:nvPr/>
        </p:nvSpPr>
        <p:spPr>
          <a:xfrm>
            <a:off x="1920240" y="5669280"/>
            <a:ext cx="9281160" cy="274320"/>
          </a:xfrm>
          <a:prstGeom prst="rect">
            <a:avLst/>
          </a:prstGeom>
          <a:noFill/>
          <a:ln/>
        </p:spPr>
        <p:txBody>
          <a:bodyPr wrap="square" lIns="0" tIns="0" rIns="0" bIns="0" rtlCol="0" anchor="ctr">
            <a:normAutofit fontScale="92500"/>
          </a:bodyPr>
          <a:lstStyle/>
          <a:p>
            <a:pPr marL="0" indent="0">
              <a:buNone/>
            </a:pPr>
            <a:r>
              <a:rPr lang="en-US" sz="1170" b="1" dirty="0">
                <a:solidFill>
                  <a:srgbClr val="0B1F3A"/>
                </a:solidFill>
              </a:rPr>
              <a:t>3D planning improved challenging frontal sinusotomy preparation, atraumatic handling, sinus cannulation, and drainage‑pathway identification.</a:t>
            </a:r>
            <a:endParaRPr lang="en-US" sz="1170" dirty="0"/>
          </a:p>
        </p:txBody>
      </p:sp>
      <p:sp>
        <p:nvSpPr>
          <p:cNvPr id="23" name="Text 20"/>
          <p:cNvSpPr/>
          <p:nvPr/>
        </p:nvSpPr>
        <p:spPr>
          <a:xfrm>
            <a:off x="1920240" y="5961888"/>
            <a:ext cx="9281160" cy="201168"/>
          </a:xfrm>
          <a:prstGeom prst="rect">
            <a:avLst/>
          </a:prstGeom>
          <a:noFill/>
          <a:ln/>
        </p:spPr>
        <p:txBody>
          <a:bodyPr wrap="square" lIns="0" tIns="0" rIns="0" bIns="0" rtlCol="0" anchor="ctr">
            <a:normAutofit/>
          </a:bodyPr>
          <a:lstStyle/>
          <a:p>
            <a:pPr marL="0" indent="0">
              <a:buNone/>
            </a:pPr>
            <a:r>
              <a:rPr lang="en-US" sz="870" dirty="0">
                <a:solidFill>
                  <a:srgbClr val="475467"/>
                </a:solidFill>
              </a:rPr>
              <a:t>Core message for doctors: uncertainty in drainage anatomy increases operative ambiguity; pathway mapping turns CT anatomy into a safe, reproducible surgical strategy.</a:t>
            </a:r>
            <a:endParaRPr lang="en-US" sz="870" dirty="0"/>
          </a:p>
        </p:txBody>
      </p:sp>
      <p:sp>
        <p:nvSpPr>
          <p:cNvPr id="24" name="Text 21"/>
          <p:cNvSpPr/>
          <p:nvPr/>
        </p:nvSpPr>
        <p:spPr>
          <a:xfrm>
            <a:off x="502920" y="6510528"/>
            <a:ext cx="11064240" cy="146304"/>
          </a:xfrm>
          <a:prstGeom prst="rect">
            <a:avLst/>
          </a:prstGeom>
          <a:noFill/>
          <a:ln/>
        </p:spPr>
        <p:txBody>
          <a:bodyPr wrap="square" lIns="0" tIns="0" rIns="0" bIns="0" rtlCol="0" anchor="ctr"/>
          <a:lstStyle/>
          <a:p>
            <a:pPr marL="0" indent="0">
              <a:buNone/>
            </a:pPr>
            <a:r>
              <a:rPr lang="en-US" sz="630" dirty="0">
                <a:solidFill>
                  <a:srgbClr val="667085"/>
                </a:solidFill>
              </a:rPr>
              <a:t>Sources: Wormald et al., IFAC/EFSS, 2016; Kelly et al., 3D surgical planning education, 2026; Ngo &amp; Tran, 3D FSDP mapping with surgical validation, 2026.</a:t>
            </a:r>
            <a:endParaRPr lang="en-US" sz="63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BD68539-5245-5905-AD56-01127D2F75F1}"/>
            </a:ext>
          </a:extLst>
        </p:cNvPr>
        <p:cNvGrpSpPr/>
        <p:nvPr/>
      </p:nvGrpSpPr>
      <p:grpSpPr>
        <a:xfrm>
          <a:off x="0" y="0"/>
          <a:ext cx="0" cy="0"/>
          <a:chOff x="0" y="0"/>
          <a:chExt cx="0" cy="0"/>
        </a:xfrm>
      </p:grpSpPr>
      <p:sp>
        <p:nvSpPr>
          <p:cNvPr id="10" name="Shape 8">
            <a:extLst>
              <a:ext uri="{FF2B5EF4-FFF2-40B4-BE49-F238E27FC236}">
                <a16:creationId xmlns:a16="http://schemas.microsoft.com/office/drawing/2014/main" id="{9F0BA303-5A9B-C277-2225-5D7A6F9267F8}"/>
              </a:ext>
            </a:extLst>
          </p:cNvPr>
          <p:cNvSpPr/>
          <p:nvPr/>
        </p:nvSpPr>
        <p:spPr>
          <a:xfrm>
            <a:off x="658368" y="1325880"/>
            <a:ext cx="502920" cy="32004"/>
          </a:xfrm>
          <a:prstGeom prst="rect">
            <a:avLst/>
          </a:prstGeom>
          <a:solidFill>
            <a:srgbClr val="5C7CC4"/>
          </a:solidFill>
          <a:ln/>
        </p:spPr>
        <p:txBody>
          <a:bodyPr/>
          <a:lstStyle/>
          <a:p>
            <a:endParaRPr lang="en-US"/>
          </a:p>
        </p:txBody>
      </p:sp>
      <p:sp>
        <p:nvSpPr>
          <p:cNvPr id="45" name="Text 43">
            <a:extLst>
              <a:ext uri="{FF2B5EF4-FFF2-40B4-BE49-F238E27FC236}">
                <a16:creationId xmlns:a16="http://schemas.microsoft.com/office/drawing/2014/main" id="{1588BECC-0A13-9EDE-8C48-44A410F1F1B6}"/>
              </a:ext>
            </a:extLst>
          </p:cNvPr>
          <p:cNvSpPr/>
          <p:nvPr/>
        </p:nvSpPr>
        <p:spPr>
          <a:xfrm>
            <a:off x="11048695" y="6144768"/>
            <a:ext cx="685800" cy="512064"/>
          </a:xfrm>
          <a:prstGeom prst="rect">
            <a:avLst/>
          </a:prstGeom>
          <a:noFill/>
          <a:ln/>
        </p:spPr>
        <p:txBody>
          <a:bodyPr wrap="square" rtlCol="0" anchor="ctr"/>
          <a:lstStyle/>
          <a:p>
            <a:pPr marL="0" indent="0" algn="r">
              <a:buNone/>
            </a:pPr>
            <a:r>
              <a:rPr lang="en-US" sz="1400" b="1" dirty="0">
                <a:solidFill>
                  <a:srgbClr val="5C7CC4"/>
                </a:solidFill>
                <a:latin typeface="Century Schoolbook" pitchFamily="34" charset="0"/>
                <a:ea typeface="Century Schoolbook" pitchFamily="34" charset="-122"/>
                <a:cs typeface="Century Schoolbook" pitchFamily="34" charset="-120"/>
              </a:rPr>
              <a:t>03</a:t>
            </a:r>
            <a:endParaRPr lang="en-US" sz="1400" dirty="0"/>
          </a:p>
        </p:txBody>
      </p:sp>
      <p:sp>
        <p:nvSpPr>
          <p:cNvPr id="46" name="Text 7">
            <a:extLst>
              <a:ext uri="{FF2B5EF4-FFF2-40B4-BE49-F238E27FC236}">
                <a16:creationId xmlns:a16="http://schemas.microsoft.com/office/drawing/2014/main" id="{010DC6BF-CF0D-1231-CDD9-E28FF81CD60B}"/>
              </a:ext>
            </a:extLst>
          </p:cNvPr>
          <p:cNvSpPr/>
          <p:nvPr/>
        </p:nvSpPr>
        <p:spPr>
          <a:xfrm>
            <a:off x="640080" y="368300"/>
            <a:ext cx="2649220" cy="911860"/>
          </a:xfrm>
          <a:prstGeom prst="rect">
            <a:avLst/>
          </a:prstGeom>
          <a:noFill/>
          <a:ln/>
        </p:spPr>
        <p:txBody>
          <a:bodyPr wrap="square" rtlCol="0" anchor="ctr"/>
          <a:lstStyle/>
          <a:p>
            <a:r>
              <a:rPr lang="en-US" sz="3200" b="1" dirty="0">
                <a:solidFill>
                  <a:srgbClr val="262C40"/>
                </a:solidFill>
                <a:latin typeface="Century Schoolbook" pitchFamily="34" charset="0"/>
                <a:ea typeface="Century Schoolbook" pitchFamily="34" charset="-122"/>
                <a:cs typeface="Century Schoolbook" pitchFamily="34" charset="-120"/>
              </a:rPr>
              <a:t>Annotation Check</a:t>
            </a:r>
            <a:endParaRPr lang="en-US" sz="3200" dirty="0"/>
          </a:p>
        </p:txBody>
      </p:sp>
      <p:pic>
        <p:nvPicPr>
          <p:cNvPr id="40" name="Picture 39">
            <a:extLst>
              <a:ext uri="{FF2B5EF4-FFF2-40B4-BE49-F238E27FC236}">
                <a16:creationId xmlns:a16="http://schemas.microsoft.com/office/drawing/2014/main" id="{6D350BA6-02D9-CE34-F78E-493A9008336F}"/>
              </a:ext>
            </a:extLst>
          </p:cNvPr>
          <p:cNvPicPr>
            <a:picLocks noChangeAspect="1"/>
          </p:cNvPicPr>
          <p:nvPr/>
        </p:nvPicPr>
        <p:blipFill>
          <a:blip r:embed="rId3"/>
          <a:stretch>
            <a:fillRect/>
          </a:stretch>
        </p:blipFill>
        <p:spPr>
          <a:xfrm>
            <a:off x="10955723" y="163081"/>
            <a:ext cx="871744" cy="960484"/>
          </a:xfrm>
          <a:prstGeom prst="rect">
            <a:avLst/>
          </a:prstGeom>
        </p:spPr>
      </p:pic>
      <p:pic>
        <p:nvPicPr>
          <p:cNvPr id="4" name="Image 0" descr="/home/claude/parang_dark_strip.png">
            <a:extLst>
              <a:ext uri="{FF2B5EF4-FFF2-40B4-BE49-F238E27FC236}">
                <a16:creationId xmlns:a16="http://schemas.microsoft.com/office/drawing/2014/main" id="{531EFE28-32BA-95D5-F6B0-BBCE34DDF1FA}"/>
              </a:ext>
            </a:extLst>
          </p:cNvPr>
          <p:cNvPicPr>
            <a:picLocks noChangeAspect="1"/>
          </p:cNvPicPr>
          <p:nvPr/>
        </p:nvPicPr>
        <p:blipFill>
          <a:blip r:embed="rId4"/>
          <a:stretch>
            <a:fillRect/>
          </a:stretch>
        </p:blipFill>
        <p:spPr>
          <a:xfrm rot="19278733">
            <a:off x="-493431" y="5580941"/>
            <a:ext cx="1177435" cy="1940466"/>
          </a:xfrm>
          <a:prstGeom prst="rect">
            <a:avLst/>
          </a:prstGeom>
        </p:spPr>
      </p:pic>
      <p:pic>
        <p:nvPicPr>
          <p:cNvPr id="2" name="Picture 1">
            <a:extLst>
              <a:ext uri="{FF2B5EF4-FFF2-40B4-BE49-F238E27FC236}">
                <a16:creationId xmlns:a16="http://schemas.microsoft.com/office/drawing/2014/main" id="{DDB6C23D-8FEB-1842-9A8C-D34FC3313626}"/>
              </a:ext>
            </a:extLst>
          </p:cNvPr>
          <p:cNvPicPr>
            <a:picLocks noChangeAspect="1"/>
          </p:cNvPicPr>
          <p:nvPr/>
        </p:nvPicPr>
        <p:blipFill>
          <a:blip r:embed="rId5"/>
          <a:stretch>
            <a:fillRect/>
          </a:stretch>
        </p:blipFill>
        <p:spPr>
          <a:xfrm>
            <a:off x="3099503" y="247211"/>
            <a:ext cx="7772400" cy="6363578"/>
          </a:xfrm>
          <a:prstGeom prst="rect">
            <a:avLst/>
          </a:prstGeom>
        </p:spPr>
      </p:pic>
    </p:spTree>
    <p:extLst>
      <p:ext uri="{BB962C8B-B14F-4D97-AF65-F5344CB8AC3E}">
        <p14:creationId xmlns:p14="http://schemas.microsoft.com/office/powerpoint/2010/main" val="220299483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Image 3" descr="/home/claude/truntum_dark.png">
            <a:extLst>
              <a:ext uri="{FF2B5EF4-FFF2-40B4-BE49-F238E27FC236}">
                <a16:creationId xmlns:a16="http://schemas.microsoft.com/office/drawing/2014/main" id="{301E9762-98F6-1573-AB86-3F9F20F9EF84}"/>
              </a:ext>
            </a:extLst>
          </p:cNvPr>
          <p:cNvPicPr>
            <a:picLocks noChangeAspect="1"/>
          </p:cNvPicPr>
          <p:nvPr/>
        </p:nvPicPr>
        <p:blipFill>
          <a:blip r:embed="rId2"/>
          <a:srcRect/>
          <a:stretch/>
        </p:blipFill>
        <p:spPr>
          <a:xfrm>
            <a:off x="-1005840" y="5699760"/>
            <a:ext cx="2011680" cy="2011680"/>
          </a:xfrm>
          <a:prstGeom prst="ellipse">
            <a:avLst/>
          </a:prstGeom>
        </p:spPr>
      </p:pic>
      <p:pic>
        <p:nvPicPr>
          <p:cNvPr id="5" name="Image 3" descr="/home/claude/truntum_dark.png">
            <a:extLst>
              <a:ext uri="{FF2B5EF4-FFF2-40B4-BE49-F238E27FC236}">
                <a16:creationId xmlns:a16="http://schemas.microsoft.com/office/drawing/2014/main" id="{CAB8AFBA-28D7-C4EA-2656-6B13DA609F8B}"/>
              </a:ext>
            </a:extLst>
          </p:cNvPr>
          <p:cNvPicPr>
            <a:picLocks noChangeAspect="1"/>
          </p:cNvPicPr>
          <p:nvPr/>
        </p:nvPicPr>
        <p:blipFill>
          <a:blip r:embed="rId2"/>
          <a:srcRect/>
          <a:stretch/>
        </p:blipFill>
        <p:spPr>
          <a:xfrm>
            <a:off x="-1005840" y="-1005840"/>
            <a:ext cx="2011680" cy="2011680"/>
          </a:xfrm>
          <a:prstGeom prst="ellipse">
            <a:avLst/>
          </a:prstGeom>
        </p:spPr>
      </p:pic>
      <p:sp>
        <p:nvSpPr>
          <p:cNvPr id="6" name="Text 43">
            <a:extLst>
              <a:ext uri="{FF2B5EF4-FFF2-40B4-BE49-F238E27FC236}">
                <a16:creationId xmlns:a16="http://schemas.microsoft.com/office/drawing/2014/main" id="{0EC191F8-D788-BF6D-EE6F-66C0AFF2CC26}"/>
              </a:ext>
            </a:extLst>
          </p:cNvPr>
          <p:cNvSpPr/>
          <p:nvPr/>
        </p:nvSpPr>
        <p:spPr>
          <a:xfrm>
            <a:off x="11328095" y="6164554"/>
            <a:ext cx="685800" cy="512064"/>
          </a:xfrm>
          <a:prstGeom prst="rect">
            <a:avLst/>
          </a:prstGeom>
          <a:noFill/>
          <a:ln/>
        </p:spPr>
        <p:txBody>
          <a:bodyPr wrap="square" rtlCol="0" anchor="ctr"/>
          <a:lstStyle/>
          <a:p>
            <a:pPr marL="0" indent="0" algn="r">
              <a:buNone/>
            </a:pPr>
            <a:r>
              <a:rPr lang="en-US" sz="1400" b="1" dirty="0">
                <a:solidFill>
                  <a:srgbClr val="5C7CC4"/>
                </a:solidFill>
                <a:latin typeface="Century Schoolbook" pitchFamily="34" charset="0"/>
                <a:ea typeface="Century Schoolbook" pitchFamily="34" charset="-122"/>
                <a:cs typeface="Century Schoolbook" pitchFamily="34" charset="-120"/>
              </a:rPr>
              <a:t>04</a:t>
            </a:r>
            <a:endParaRPr lang="en-US" sz="1400" dirty="0"/>
          </a:p>
        </p:txBody>
      </p:sp>
      <p:pic>
        <p:nvPicPr>
          <p:cNvPr id="7" name="Picture 6">
            <a:extLst>
              <a:ext uri="{FF2B5EF4-FFF2-40B4-BE49-F238E27FC236}">
                <a16:creationId xmlns:a16="http://schemas.microsoft.com/office/drawing/2014/main" id="{1EB5D458-B805-0692-35DF-8E95F9E687D7}"/>
              </a:ext>
            </a:extLst>
          </p:cNvPr>
          <p:cNvPicPr>
            <a:picLocks noChangeAspect="1"/>
          </p:cNvPicPr>
          <p:nvPr/>
        </p:nvPicPr>
        <p:blipFill>
          <a:blip r:embed="rId3"/>
          <a:stretch>
            <a:fillRect/>
          </a:stretch>
        </p:blipFill>
        <p:spPr>
          <a:xfrm>
            <a:off x="2565399" y="37883"/>
            <a:ext cx="9055101" cy="6782234"/>
          </a:xfrm>
          <a:prstGeom prst="rect">
            <a:avLst/>
          </a:prstGeom>
        </p:spPr>
      </p:pic>
      <p:sp>
        <p:nvSpPr>
          <p:cNvPr id="8" name="Text 7">
            <a:extLst>
              <a:ext uri="{FF2B5EF4-FFF2-40B4-BE49-F238E27FC236}">
                <a16:creationId xmlns:a16="http://schemas.microsoft.com/office/drawing/2014/main" id="{DDA29D38-FCE9-1EBC-3E00-1FE128435A0F}"/>
              </a:ext>
            </a:extLst>
          </p:cNvPr>
          <p:cNvSpPr/>
          <p:nvPr/>
        </p:nvSpPr>
        <p:spPr>
          <a:xfrm>
            <a:off x="553719" y="549910"/>
            <a:ext cx="2011680" cy="911860"/>
          </a:xfrm>
          <a:prstGeom prst="rect">
            <a:avLst/>
          </a:prstGeom>
          <a:noFill/>
          <a:ln/>
        </p:spPr>
        <p:txBody>
          <a:bodyPr wrap="square" rtlCol="0" anchor="ctr"/>
          <a:lstStyle/>
          <a:p>
            <a:r>
              <a:rPr lang="en-US" sz="3200" b="1" dirty="0">
                <a:solidFill>
                  <a:srgbClr val="262C40"/>
                </a:solidFill>
                <a:latin typeface="Century Schoolbook" pitchFamily="34" charset="0"/>
              </a:rPr>
              <a:t>ROI</a:t>
            </a:r>
            <a:endParaRPr lang="en-US" sz="3200" dirty="0"/>
          </a:p>
        </p:txBody>
      </p:sp>
      <p:sp>
        <p:nvSpPr>
          <p:cNvPr id="9" name="Shape 8">
            <a:extLst>
              <a:ext uri="{FF2B5EF4-FFF2-40B4-BE49-F238E27FC236}">
                <a16:creationId xmlns:a16="http://schemas.microsoft.com/office/drawing/2014/main" id="{D04EF3AC-E0DF-F14C-0278-0C10FE3048D9}"/>
              </a:ext>
            </a:extLst>
          </p:cNvPr>
          <p:cNvSpPr/>
          <p:nvPr/>
        </p:nvSpPr>
        <p:spPr>
          <a:xfrm>
            <a:off x="658368" y="1325880"/>
            <a:ext cx="502920" cy="32004"/>
          </a:xfrm>
          <a:prstGeom prst="rect">
            <a:avLst/>
          </a:prstGeom>
          <a:solidFill>
            <a:srgbClr val="5C7CC4"/>
          </a:solidFill>
          <a:ln/>
        </p:spPr>
        <p:txBody>
          <a:bodyPr/>
          <a:lstStyle/>
          <a:p>
            <a:endParaRPr lang="en-US"/>
          </a:p>
        </p:txBody>
      </p:sp>
    </p:spTree>
    <p:extLst>
      <p:ext uri="{BB962C8B-B14F-4D97-AF65-F5344CB8AC3E}">
        <p14:creationId xmlns:p14="http://schemas.microsoft.com/office/powerpoint/2010/main" val="246108027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6" name="Table 5">
            <a:extLst>
              <a:ext uri="{FF2B5EF4-FFF2-40B4-BE49-F238E27FC236}">
                <a16:creationId xmlns:a16="http://schemas.microsoft.com/office/drawing/2014/main" id="{60F120EE-12C0-F01C-F027-2766657DE3A6}"/>
              </a:ext>
            </a:extLst>
          </p:cNvPr>
          <p:cNvGraphicFramePr>
            <a:graphicFrameLocks noGrp="1"/>
          </p:cNvGraphicFramePr>
          <p:nvPr/>
        </p:nvGraphicFramePr>
        <p:xfrm>
          <a:off x="954630" y="1195899"/>
          <a:ext cx="10094370" cy="5293803"/>
        </p:xfrm>
        <a:graphic>
          <a:graphicData uri="http://schemas.openxmlformats.org/drawingml/2006/table">
            <a:tbl>
              <a:tblPr>
                <a:tableStyleId>{B301B821-A1FF-4177-AEE7-76D212191A09}</a:tableStyleId>
              </a:tblPr>
              <a:tblGrid>
                <a:gridCol w="3364790">
                  <a:extLst>
                    <a:ext uri="{9D8B030D-6E8A-4147-A177-3AD203B41FA5}">
                      <a16:colId xmlns:a16="http://schemas.microsoft.com/office/drawing/2014/main" val="4271584135"/>
                    </a:ext>
                  </a:extLst>
                </a:gridCol>
                <a:gridCol w="3364790">
                  <a:extLst>
                    <a:ext uri="{9D8B030D-6E8A-4147-A177-3AD203B41FA5}">
                      <a16:colId xmlns:a16="http://schemas.microsoft.com/office/drawing/2014/main" val="485719122"/>
                    </a:ext>
                  </a:extLst>
                </a:gridCol>
                <a:gridCol w="3364790">
                  <a:extLst>
                    <a:ext uri="{9D8B030D-6E8A-4147-A177-3AD203B41FA5}">
                      <a16:colId xmlns:a16="http://schemas.microsoft.com/office/drawing/2014/main" val="4062220042"/>
                    </a:ext>
                  </a:extLst>
                </a:gridCol>
              </a:tblGrid>
              <a:tr h="467979">
                <a:tc>
                  <a:txBody>
                    <a:bodyPr/>
                    <a:lstStyle/>
                    <a:p>
                      <a:pPr algn="ctr">
                        <a:buNone/>
                      </a:pPr>
                      <a:r>
                        <a:rPr lang="en-ID" sz="1600" dirty="0"/>
                        <a:t>Experiment</a:t>
                      </a:r>
                    </a:p>
                  </a:txBody>
                  <a:tcPr marL="80580" marR="80580" marT="40290" marB="40290" anchor="ctr"/>
                </a:tc>
                <a:tc>
                  <a:txBody>
                    <a:bodyPr/>
                    <a:lstStyle/>
                    <a:p>
                      <a:pPr algn="ctr">
                        <a:buNone/>
                      </a:pPr>
                      <a:r>
                        <a:rPr lang="en-ID" sz="1600" dirty="0"/>
                        <a:t>New output classes</a:t>
                      </a:r>
                    </a:p>
                  </a:txBody>
                  <a:tcPr marL="80580" marR="80580" marT="40290" marB="40290" anchor="ctr"/>
                </a:tc>
                <a:tc>
                  <a:txBody>
                    <a:bodyPr/>
                    <a:lstStyle/>
                    <a:p>
                      <a:pPr algn="ctr">
                        <a:buNone/>
                      </a:pPr>
                      <a:r>
                        <a:rPr lang="en-ID" sz="1600" dirty="0"/>
                        <a:t>Original structures merged</a:t>
                      </a:r>
                    </a:p>
                  </a:txBody>
                  <a:tcPr marL="80580" marR="80580" marT="40290" marB="40290" anchor="ctr"/>
                </a:tc>
                <a:extLst>
                  <a:ext uri="{0D108BD9-81ED-4DB2-BD59-A6C34878D82A}">
                    <a16:rowId xmlns:a16="http://schemas.microsoft.com/office/drawing/2014/main" val="3695822201"/>
                  </a:ext>
                </a:extLst>
              </a:tr>
              <a:tr h="676065">
                <a:tc>
                  <a:txBody>
                    <a:bodyPr/>
                    <a:lstStyle/>
                    <a:p>
                      <a:pPr>
                        <a:buNone/>
                      </a:pPr>
                      <a:r>
                        <a:rPr lang="en-ID" sz="1600" b="1"/>
                        <a:t>Exp 1</a:t>
                      </a:r>
                      <a:endParaRPr lang="en-ID" sz="1600"/>
                    </a:p>
                  </a:txBody>
                  <a:tcPr marL="80580" marR="80580" marT="40290" marB="40290" anchor="ctr"/>
                </a:tc>
                <a:tc>
                  <a:txBody>
                    <a:bodyPr/>
                    <a:lstStyle/>
                    <a:p>
                      <a:pPr>
                        <a:buNone/>
                      </a:pPr>
                      <a:r>
                        <a:rPr lang="en-ID" sz="1600"/>
                        <a:t>Anterior</a:t>
                      </a:r>
                    </a:p>
                  </a:txBody>
                  <a:tcPr marL="80580" marR="80580" marT="40290" marB="40290" anchor="ctr"/>
                </a:tc>
                <a:tc>
                  <a:txBody>
                    <a:bodyPr/>
                    <a:lstStyle/>
                    <a:p>
                      <a:pPr>
                        <a:buNone/>
                      </a:pPr>
                      <a:r>
                        <a:rPr lang="en-ID" sz="1600"/>
                        <a:t>RANC + RSAC + RSAFC + LANC + LSAC + LSAFC</a:t>
                      </a:r>
                    </a:p>
                  </a:txBody>
                  <a:tcPr marL="80580" marR="80580" marT="40290" marB="40290" anchor="ctr"/>
                </a:tc>
                <a:extLst>
                  <a:ext uri="{0D108BD9-81ED-4DB2-BD59-A6C34878D82A}">
                    <a16:rowId xmlns:a16="http://schemas.microsoft.com/office/drawing/2014/main" val="793363091"/>
                  </a:ext>
                </a:extLst>
              </a:tr>
              <a:tr h="676065">
                <a:tc>
                  <a:txBody>
                    <a:bodyPr/>
                    <a:lstStyle/>
                    <a:p>
                      <a:pPr>
                        <a:buNone/>
                      </a:pPr>
                      <a:endParaRPr lang="en-ID" sz="1600"/>
                    </a:p>
                  </a:txBody>
                  <a:tcPr marL="80580" marR="80580" marT="40290" marB="40290" anchor="ctr"/>
                </a:tc>
                <a:tc>
                  <a:txBody>
                    <a:bodyPr/>
                    <a:lstStyle/>
                    <a:p>
                      <a:pPr>
                        <a:buNone/>
                      </a:pPr>
                      <a:r>
                        <a:rPr lang="en-ID" sz="1600"/>
                        <a:t>Posterior</a:t>
                      </a:r>
                    </a:p>
                  </a:txBody>
                  <a:tcPr marL="80580" marR="80580" marT="40290" marB="40290" anchor="ctr"/>
                </a:tc>
                <a:tc>
                  <a:txBody>
                    <a:bodyPr/>
                    <a:lstStyle/>
                    <a:p>
                      <a:pPr>
                        <a:buNone/>
                      </a:pPr>
                      <a:r>
                        <a:rPr lang="en-ID" sz="1600"/>
                        <a:t>RBE + RSBC + RSBFC + RSOEC + LBE + LSBC + LSBFC + LSOEC</a:t>
                      </a:r>
                    </a:p>
                  </a:txBody>
                  <a:tcPr marL="80580" marR="80580" marT="40290" marB="40290" anchor="ctr"/>
                </a:tc>
                <a:extLst>
                  <a:ext uri="{0D108BD9-81ED-4DB2-BD59-A6C34878D82A}">
                    <a16:rowId xmlns:a16="http://schemas.microsoft.com/office/drawing/2014/main" val="365666954"/>
                  </a:ext>
                </a:extLst>
              </a:tr>
              <a:tr h="385966">
                <a:tc>
                  <a:txBody>
                    <a:bodyPr/>
                    <a:lstStyle/>
                    <a:p>
                      <a:pPr>
                        <a:buNone/>
                      </a:pPr>
                      <a:r>
                        <a:rPr lang="en-ID" sz="1600" b="1"/>
                        <a:t>Exp 2</a:t>
                      </a:r>
                      <a:endParaRPr lang="en-ID" sz="1600"/>
                    </a:p>
                  </a:txBody>
                  <a:tcPr marL="80580" marR="80580" marT="40290" marB="40290" anchor="ctr"/>
                </a:tc>
                <a:tc>
                  <a:txBody>
                    <a:bodyPr/>
                    <a:lstStyle/>
                    <a:p>
                      <a:pPr>
                        <a:buNone/>
                      </a:pPr>
                      <a:r>
                        <a:rPr lang="en-ID" sz="1600" dirty="0"/>
                        <a:t>Right Anterior</a:t>
                      </a:r>
                    </a:p>
                  </a:txBody>
                  <a:tcPr marL="80580" marR="80580" marT="40290" marB="40290" anchor="ctr"/>
                </a:tc>
                <a:tc>
                  <a:txBody>
                    <a:bodyPr/>
                    <a:lstStyle/>
                    <a:p>
                      <a:pPr>
                        <a:buNone/>
                      </a:pPr>
                      <a:r>
                        <a:rPr lang="en-ID" sz="1600"/>
                        <a:t>RANC + RSAC + RSAFC</a:t>
                      </a:r>
                    </a:p>
                  </a:txBody>
                  <a:tcPr marL="80580" marR="80580" marT="40290" marB="40290" anchor="ctr"/>
                </a:tc>
                <a:extLst>
                  <a:ext uri="{0D108BD9-81ED-4DB2-BD59-A6C34878D82A}">
                    <a16:rowId xmlns:a16="http://schemas.microsoft.com/office/drawing/2014/main" val="2060073684"/>
                  </a:ext>
                </a:extLst>
              </a:tr>
              <a:tr h="385966">
                <a:tc>
                  <a:txBody>
                    <a:bodyPr/>
                    <a:lstStyle/>
                    <a:p>
                      <a:pPr>
                        <a:buNone/>
                      </a:pPr>
                      <a:endParaRPr lang="en-ID" sz="1600"/>
                    </a:p>
                  </a:txBody>
                  <a:tcPr marL="80580" marR="80580" marT="40290" marB="40290" anchor="ctr"/>
                </a:tc>
                <a:tc>
                  <a:txBody>
                    <a:bodyPr/>
                    <a:lstStyle/>
                    <a:p>
                      <a:pPr>
                        <a:buNone/>
                      </a:pPr>
                      <a:r>
                        <a:rPr lang="en-ID" sz="1600"/>
                        <a:t>Left Anterior</a:t>
                      </a:r>
                    </a:p>
                  </a:txBody>
                  <a:tcPr marL="80580" marR="80580" marT="40290" marB="40290" anchor="ctr"/>
                </a:tc>
                <a:tc>
                  <a:txBody>
                    <a:bodyPr/>
                    <a:lstStyle/>
                    <a:p>
                      <a:pPr>
                        <a:buNone/>
                      </a:pPr>
                      <a:r>
                        <a:rPr lang="en-ID" sz="1600"/>
                        <a:t>LANC + LSAC + LSAFC</a:t>
                      </a:r>
                    </a:p>
                  </a:txBody>
                  <a:tcPr marL="80580" marR="80580" marT="40290" marB="40290" anchor="ctr"/>
                </a:tc>
                <a:extLst>
                  <a:ext uri="{0D108BD9-81ED-4DB2-BD59-A6C34878D82A}">
                    <a16:rowId xmlns:a16="http://schemas.microsoft.com/office/drawing/2014/main" val="2126595292"/>
                  </a:ext>
                </a:extLst>
              </a:tr>
              <a:tr h="385966">
                <a:tc>
                  <a:txBody>
                    <a:bodyPr/>
                    <a:lstStyle/>
                    <a:p>
                      <a:pPr>
                        <a:buNone/>
                      </a:pPr>
                      <a:endParaRPr lang="en-ID" sz="1600"/>
                    </a:p>
                  </a:txBody>
                  <a:tcPr marL="80580" marR="80580" marT="40290" marB="40290" anchor="ctr"/>
                </a:tc>
                <a:tc>
                  <a:txBody>
                    <a:bodyPr/>
                    <a:lstStyle/>
                    <a:p>
                      <a:pPr>
                        <a:buNone/>
                      </a:pPr>
                      <a:r>
                        <a:rPr lang="en-ID" sz="1600"/>
                        <a:t>Right Posterior</a:t>
                      </a:r>
                    </a:p>
                  </a:txBody>
                  <a:tcPr marL="80580" marR="80580" marT="40290" marB="40290" anchor="ctr"/>
                </a:tc>
                <a:tc>
                  <a:txBody>
                    <a:bodyPr/>
                    <a:lstStyle/>
                    <a:p>
                      <a:pPr>
                        <a:buNone/>
                      </a:pPr>
                      <a:r>
                        <a:rPr lang="en-ID" sz="1600"/>
                        <a:t>RBE + RSBC + RSBFC + RSOEC</a:t>
                      </a:r>
                    </a:p>
                  </a:txBody>
                  <a:tcPr marL="80580" marR="80580" marT="40290" marB="40290" anchor="ctr"/>
                </a:tc>
                <a:extLst>
                  <a:ext uri="{0D108BD9-81ED-4DB2-BD59-A6C34878D82A}">
                    <a16:rowId xmlns:a16="http://schemas.microsoft.com/office/drawing/2014/main" val="375207333"/>
                  </a:ext>
                </a:extLst>
              </a:tr>
              <a:tr h="385966">
                <a:tc>
                  <a:txBody>
                    <a:bodyPr/>
                    <a:lstStyle/>
                    <a:p>
                      <a:pPr>
                        <a:buNone/>
                      </a:pPr>
                      <a:endParaRPr lang="en-ID" sz="1600"/>
                    </a:p>
                  </a:txBody>
                  <a:tcPr marL="80580" marR="80580" marT="40290" marB="40290" anchor="ctr"/>
                </a:tc>
                <a:tc>
                  <a:txBody>
                    <a:bodyPr/>
                    <a:lstStyle/>
                    <a:p>
                      <a:pPr>
                        <a:buNone/>
                      </a:pPr>
                      <a:r>
                        <a:rPr lang="en-ID" sz="1600"/>
                        <a:t>Left Posterior</a:t>
                      </a:r>
                    </a:p>
                  </a:txBody>
                  <a:tcPr marL="80580" marR="80580" marT="40290" marB="40290" anchor="ctr"/>
                </a:tc>
                <a:tc>
                  <a:txBody>
                    <a:bodyPr/>
                    <a:lstStyle/>
                    <a:p>
                      <a:pPr>
                        <a:buNone/>
                      </a:pPr>
                      <a:r>
                        <a:rPr lang="en-ID" sz="1600"/>
                        <a:t>LBE + LSBC + LSBFC + LSOEC</a:t>
                      </a:r>
                    </a:p>
                  </a:txBody>
                  <a:tcPr marL="80580" marR="80580" marT="40290" marB="40290" anchor="ctr"/>
                </a:tc>
                <a:extLst>
                  <a:ext uri="{0D108BD9-81ED-4DB2-BD59-A6C34878D82A}">
                    <a16:rowId xmlns:a16="http://schemas.microsoft.com/office/drawing/2014/main" val="2550959679"/>
                  </a:ext>
                </a:extLst>
              </a:tr>
              <a:tr h="385966">
                <a:tc>
                  <a:txBody>
                    <a:bodyPr/>
                    <a:lstStyle/>
                    <a:p>
                      <a:pPr>
                        <a:buNone/>
                      </a:pPr>
                      <a:r>
                        <a:rPr lang="en-ID" sz="1600" b="1"/>
                        <a:t>Exp 3</a:t>
                      </a:r>
                      <a:endParaRPr lang="en-ID" sz="1600"/>
                    </a:p>
                  </a:txBody>
                  <a:tcPr marL="80580" marR="80580" marT="40290" marB="40290" anchor="ctr"/>
                </a:tc>
                <a:tc>
                  <a:txBody>
                    <a:bodyPr/>
                    <a:lstStyle/>
                    <a:p>
                      <a:pPr>
                        <a:buNone/>
                      </a:pPr>
                      <a:r>
                        <a:rPr lang="en-ID" sz="1600"/>
                        <a:t>Right Anterior</a:t>
                      </a:r>
                    </a:p>
                  </a:txBody>
                  <a:tcPr marL="80580" marR="80580" marT="40290" marB="40290" anchor="ctr"/>
                </a:tc>
                <a:tc>
                  <a:txBody>
                    <a:bodyPr/>
                    <a:lstStyle/>
                    <a:p>
                      <a:pPr>
                        <a:buNone/>
                      </a:pPr>
                      <a:r>
                        <a:rPr lang="en-ID" sz="1600"/>
                        <a:t>RANC + RSAC + RSAFC</a:t>
                      </a:r>
                    </a:p>
                  </a:txBody>
                  <a:tcPr marL="80580" marR="80580" marT="40290" marB="40290" anchor="ctr"/>
                </a:tc>
                <a:extLst>
                  <a:ext uri="{0D108BD9-81ED-4DB2-BD59-A6C34878D82A}">
                    <a16:rowId xmlns:a16="http://schemas.microsoft.com/office/drawing/2014/main" val="504623933"/>
                  </a:ext>
                </a:extLst>
              </a:tr>
              <a:tr h="385966">
                <a:tc>
                  <a:txBody>
                    <a:bodyPr/>
                    <a:lstStyle/>
                    <a:p>
                      <a:pPr>
                        <a:buNone/>
                      </a:pPr>
                      <a:endParaRPr lang="en-ID" sz="1600"/>
                    </a:p>
                  </a:txBody>
                  <a:tcPr marL="80580" marR="80580" marT="40290" marB="40290" anchor="ctr"/>
                </a:tc>
                <a:tc>
                  <a:txBody>
                    <a:bodyPr/>
                    <a:lstStyle/>
                    <a:p>
                      <a:pPr>
                        <a:buNone/>
                      </a:pPr>
                      <a:r>
                        <a:rPr lang="en-ID" sz="1600"/>
                        <a:t>Left Anterior</a:t>
                      </a:r>
                    </a:p>
                  </a:txBody>
                  <a:tcPr marL="80580" marR="80580" marT="40290" marB="40290" anchor="ctr"/>
                </a:tc>
                <a:tc>
                  <a:txBody>
                    <a:bodyPr/>
                    <a:lstStyle/>
                    <a:p>
                      <a:pPr>
                        <a:buNone/>
                      </a:pPr>
                      <a:r>
                        <a:rPr lang="en-ID" sz="1600"/>
                        <a:t>LANC + LSAC + LSAFC</a:t>
                      </a:r>
                    </a:p>
                  </a:txBody>
                  <a:tcPr marL="80580" marR="80580" marT="40290" marB="40290" anchor="ctr"/>
                </a:tc>
                <a:extLst>
                  <a:ext uri="{0D108BD9-81ED-4DB2-BD59-A6C34878D82A}">
                    <a16:rowId xmlns:a16="http://schemas.microsoft.com/office/drawing/2014/main" val="3785219175"/>
                  </a:ext>
                </a:extLst>
              </a:tr>
              <a:tr h="385966">
                <a:tc>
                  <a:txBody>
                    <a:bodyPr/>
                    <a:lstStyle/>
                    <a:p>
                      <a:pPr>
                        <a:buNone/>
                      </a:pPr>
                      <a:endParaRPr lang="en-ID" sz="1600"/>
                    </a:p>
                  </a:txBody>
                  <a:tcPr marL="80580" marR="80580" marT="40290" marB="40290" anchor="ctr"/>
                </a:tc>
                <a:tc>
                  <a:txBody>
                    <a:bodyPr/>
                    <a:lstStyle/>
                    <a:p>
                      <a:pPr>
                        <a:buNone/>
                      </a:pPr>
                      <a:r>
                        <a:rPr lang="en-ID" sz="1600"/>
                        <a:t>Right Posterior</a:t>
                      </a:r>
                    </a:p>
                  </a:txBody>
                  <a:tcPr marL="80580" marR="80580" marT="40290" marB="40290" anchor="ctr"/>
                </a:tc>
                <a:tc>
                  <a:txBody>
                    <a:bodyPr/>
                    <a:lstStyle/>
                    <a:p>
                      <a:pPr>
                        <a:buNone/>
                      </a:pPr>
                      <a:r>
                        <a:rPr lang="en-ID" sz="1600"/>
                        <a:t>RBE + RSBC + RSBFC + RSOEC</a:t>
                      </a:r>
                    </a:p>
                  </a:txBody>
                  <a:tcPr marL="80580" marR="80580" marT="40290" marB="40290" anchor="ctr"/>
                </a:tc>
                <a:extLst>
                  <a:ext uri="{0D108BD9-81ED-4DB2-BD59-A6C34878D82A}">
                    <a16:rowId xmlns:a16="http://schemas.microsoft.com/office/drawing/2014/main" val="435634830"/>
                  </a:ext>
                </a:extLst>
              </a:tr>
              <a:tr h="385966">
                <a:tc>
                  <a:txBody>
                    <a:bodyPr/>
                    <a:lstStyle/>
                    <a:p>
                      <a:pPr>
                        <a:buNone/>
                      </a:pPr>
                      <a:endParaRPr lang="en-ID" sz="1600"/>
                    </a:p>
                  </a:txBody>
                  <a:tcPr marL="80580" marR="80580" marT="40290" marB="40290" anchor="ctr"/>
                </a:tc>
                <a:tc>
                  <a:txBody>
                    <a:bodyPr/>
                    <a:lstStyle/>
                    <a:p>
                      <a:pPr>
                        <a:buNone/>
                      </a:pPr>
                      <a:r>
                        <a:rPr lang="en-ID" sz="1600"/>
                        <a:t>Left Posterior</a:t>
                      </a:r>
                    </a:p>
                  </a:txBody>
                  <a:tcPr marL="80580" marR="80580" marT="40290" marB="40290" anchor="ctr"/>
                </a:tc>
                <a:tc>
                  <a:txBody>
                    <a:bodyPr/>
                    <a:lstStyle/>
                    <a:p>
                      <a:pPr>
                        <a:buNone/>
                      </a:pPr>
                      <a:r>
                        <a:rPr lang="en-ID" sz="1600"/>
                        <a:t>LBE + LSBC + LSBFC + LSOEC</a:t>
                      </a:r>
                    </a:p>
                  </a:txBody>
                  <a:tcPr marL="80580" marR="80580" marT="40290" marB="40290" anchor="ctr"/>
                </a:tc>
                <a:extLst>
                  <a:ext uri="{0D108BD9-81ED-4DB2-BD59-A6C34878D82A}">
                    <a16:rowId xmlns:a16="http://schemas.microsoft.com/office/drawing/2014/main" val="4012013197"/>
                  </a:ext>
                </a:extLst>
              </a:tr>
              <a:tr h="385966">
                <a:tc>
                  <a:txBody>
                    <a:bodyPr/>
                    <a:lstStyle/>
                    <a:p>
                      <a:pPr>
                        <a:buNone/>
                      </a:pPr>
                      <a:endParaRPr lang="en-ID" sz="1600"/>
                    </a:p>
                  </a:txBody>
                  <a:tcPr marL="80580" marR="80580" marT="40290" marB="40290" anchor="ctr"/>
                </a:tc>
                <a:tc>
                  <a:txBody>
                    <a:bodyPr/>
                    <a:lstStyle/>
                    <a:p>
                      <a:pPr>
                        <a:buNone/>
                      </a:pPr>
                      <a:r>
                        <a:rPr lang="en-ID" sz="1600"/>
                        <a:t>FSC</a:t>
                      </a:r>
                    </a:p>
                  </a:txBody>
                  <a:tcPr marL="80580" marR="80580" marT="40290" marB="40290" anchor="ctr"/>
                </a:tc>
                <a:tc>
                  <a:txBody>
                    <a:bodyPr/>
                    <a:lstStyle/>
                    <a:p>
                      <a:pPr>
                        <a:buNone/>
                      </a:pPr>
                      <a:r>
                        <a:rPr lang="en-ID" sz="1600" dirty="0"/>
                        <a:t>original FSC</a:t>
                      </a:r>
                    </a:p>
                  </a:txBody>
                  <a:tcPr marL="80580" marR="80580" marT="40290" marB="40290" anchor="ctr"/>
                </a:tc>
                <a:extLst>
                  <a:ext uri="{0D108BD9-81ED-4DB2-BD59-A6C34878D82A}">
                    <a16:rowId xmlns:a16="http://schemas.microsoft.com/office/drawing/2014/main" val="2241329753"/>
                  </a:ext>
                </a:extLst>
              </a:tr>
            </a:tbl>
          </a:graphicData>
        </a:graphic>
      </p:graphicFrame>
      <p:sp>
        <p:nvSpPr>
          <p:cNvPr id="7" name="Text 7">
            <a:extLst>
              <a:ext uri="{FF2B5EF4-FFF2-40B4-BE49-F238E27FC236}">
                <a16:creationId xmlns:a16="http://schemas.microsoft.com/office/drawing/2014/main" id="{202062A4-ECEC-6914-A572-FB253A0A049A}"/>
              </a:ext>
            </a:extLst>
          </p:cNvPr>
          <p:cNvSpPr/>
          <p:nvPr/>
        </p:nvSpPr>
        <p:spPr>
          <a:xfrm>
            <a:off x="954630" y="92710"/>
            <a:ext cx="4557170" cy="911860"/>
          </a:xfrm>
          <a:prstGeom prst="rect">
            <a:avLst/>
          </a:prstGeom>
          <a:noFill/>
          <a:ln/>
        </p:spPr>
        <p:txBody>
          <a:bodyPr wrap="square" rtlCol="0" anchor="ctr"/>
          <a:lstStyle/>
          <a:p>
            <a:r>
              <a:rPr lang="en-US" sz="3200" b="1" dirty="0">
                <a:solidFill>
                  <a:srgbClr val="262C40"/>
                </a:solidFill>
                <a:latin typeface="Century Schoolbook" pitchFamily="34" charset="0"/>
              </a:rPr>
              <a:t>Experiment Design</a:t>
            </a:r>
            <a:endParaRPr lang="en-US" sz="3200" dirty="0"/>
          </a:p>
        </p:txBody>
      </p:sp>
      <p:sp>
        <p:nvSpPr>
          <p:cNvPr id="8" name="Shape 8">
            <a:extLst>
              <a:ext uri="{FF2B5EF4-FFF2-40B4-BE49-F238E27FC236}">
                <a16:creationId xmlns:a16="http://schemas.microsoft.com/office/drawing/2014/main" id="{9C0DF0D2-489F-3E82-FD1B-D363A7A3942B}"/>
              </a:ext>
            </a:extLst>
          </p:cNvPr>
          <p:cNvSpPr/>
          <p:nvPr/>
        </p:nvSpPr>
        <p:spPr>
          <a:xfrm>
            <a:off x="1059279" y="868680"/>
            <a:ext cx="502920" cy="32004"/>
          </a:xfrm>
          <a:prstGeom prst="rect">
            <a:avLst/>
          </a:prstGeom>
          <a:solidFill>
            <a:srgbClr val="5C7CC4"/>
          </a:solidFill>
          <a:ln/>
        </p:spPr>
        <p:txBody>
          <a:bodyPr/>
          <a:lstStyle/>
          <a:p>
            <a:endParaRPr lang="en-US"/>
          </a:p>
        </p:txBody>
      </p:sp>
    </p:spTree>
    <p:extLst>
      <p:ext uri="{BB962C8B-B14F-4D97-AF65-F5344CB8AC3E}">
        <p14:creationId xmlns:p14="http://schemas.microsoft.com/office/powerpoint/2010/main" val="261484963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3AF61DF-85C4-5C06-E07C-FD4454A2D886}"/>
            </a:ext>
          </a:extLst>
        </p:cNvPr>
        <p:cNvGrpSpPr/>
        <p:nvPr/>
      </p:nvGrpSpPr>
      <p:grpSpPr>
        <a:xfrm>
          <a:off x="0" y="0"/>
          <a:ext cx="0" cy="0"/>
          <a:chOff x="0" y="0"/>
          <a:chExt cx="0" cy="0"/>
        </a:xfrm>
      </p:grpSpPr>
      <p:sp>
        <p:nvSpPr>
          <p:cNvPr id="7" name="Text 7">
            <a:extLst>
              <a:ext uri="{FF2B5EF4-FFF2-40B4-BE49-F238E27FC236}">
                <a16:creationId xmlns:a16="http://schemas.microsoft.com/office/drawing/2014/main" id="{B3B6279C-D92D-FDE7-DF18-9452C5AC010E}"/>
              </a:ext>
            </a:extLst>
          </p:cNvPr>
          <p:cNvSpPr/>
          <p:nvPr/>
        </p:nvSpPr>
        <p:spPr>
          <a:xfrm>
            <a:off x="954630" y="92710"/>
            <a:ext cx="7528970" cy="911860"/>
          </a:xfrm>
          <a:prstGeom prst="rect">
            <a:avLst/>
          </a:prstGeom>
          <a:noFill/>
          <a:ln/>
        </p:spPr>
        <p:txBody>
          <a:bodyPr wrap="square" rtlCol="0" anchor="ctr"/>
          <a:lstStyle/>
          <a:p>
            <a:r>
              <a:rPr lang="en-US" sz="3200" b="1" dirty="0">
                <a:solidFill>
                  <a:srgbClr val="262C40"/>
                </a:solidFill>
                <a:latin typeface="Century Schoolbook" pitchFamily="34" charset="0"/>
              </a:rPr>
              <a:t>Patient 6319258 (Axial Slice 39)</a:t>
            </a:r>
            <a:endParaRPr lang="en-US" sz="3200" dirty="0"/>
          </a:p>
        </p:txBody>
      </p:sp>
      <p:sp>
        <p:nvSpPr>
          <p:cNvPr id="8" name="Shape 8">
            <a:extLst>
              <a:ext uri="{FF2B5EF4-FFF2-40B4-BE49-F238E27FC236}">
                <a16:creationId xmlns:a16="http://schemas.microsoft.com/office/drawing/2014/main" id="{17E87D68-3A36-4463-5FE1-DEBAF6E61378}"/>
              </a:ext>
            </a:extLst>
          </p:cNvPr>
          <p:cNvSpPr/>
          <p:nvPr/>
        </p:nvSpPr>
        <p:spPr>
          <a:xfrm>
            <a:off x="1059279" y="868680"/>
            <a:ext cx="502920" cy="32004"/>
          </a:xfrm>
          <a:prstGeom prst="rect">
            <a:avLst/>
          </a:prstGeom>
          <a:solidFill>
            <a:srgbClr val="5C7CC4"/>
          </a:solidFill>
          <a:ln/>
        </p:spPr>
        <p:txBody>
          <a:bodyPr/>
          <a:lstStyle/>
          <a:p>
            <a:endParaRPr lang="en-US"/>
          </a:p>
        </p:txBody>
      </p:sp>
      <p:sp>
        <p:nvSpPr>
          <p:cNvPr id="10" name="TextBox 9">
            <a:extLst>
              <a:ext uri="{FF2B5EF4-FFF2-40B4-BE49-F238E27FC236}">
                <a16:creationId xmlns:a16="http://schemas.microsoft.com/office/drawing/2014/main" id="{6D3C4710-027D-5311-6F35-B9BA7EF4842B}"/>
              </a:ext>
            </a:extLst>
          </p:cNvPr>
          <p:cNvSpPr txBox="1"/>
          <p:nvPr/>
        </p:nvSpPr>
        <p:spPr>
          <a:xfrm>
            <a:off x="393700" y="1053084"/>
            <a:ext cx="1651103" cy="369332"/>
          </a:xfrm>
          <a:prstGeom prst="rect">
            <a:avLst/>
          </a:prstGeom>
          <a:noFill/>
          <a:ln>
            <a:noFill/>
          </a:ln>
        </p:spPr>
        <p:txBody>
          <a:bodyPr wrap="square" rtlCol="0">
            <a:spAutoFit/>
          </a:bodyPr>
          <a:lstStyle/>
          <a:p>
            <a:pPr algn="ctr"/>
            <a:r>
              <a:rPr lang="en-US" dirty="0"/>
              <a:t>Raw Image</a:t>
            </a:r>
          </a:p>
        </p:txBody>
      </p:sp>
      <p:sp>
        <p:nvSpPr>
          <p:cNvPr id="11" name="TextBox 10">
            <a:extLst>
              <a:ext uri="{FF2B5EF4-FFF2-40B4-BE49-F238E27FC236}">
                <a16:creationId xmlns:a16="http://schemas.microsoft.com/office/drawing/2014/main" id="{75F4C857-4BF7-D919-1B34-874BEC008E89}"/>
              </a:ext>
            </a:extLst>
          </p:cNvPr>
          <p:cNvSpPr txBox="1"/>
          <p:nvPr/>
        </p:nvSpPr>
        <p:spPr>
          <a:xfrm>
            <a:off x="2400407" y="1053084"/>
            <a:ext cx="1651103" cy="369332"/>
          </a:xfrm>
          <a:prstGeom prst="rect">
            <a:avLst/>
          </a:prstGeom>
          <a:noFill/>
          <a:ln>
            <a:noFill/>
          </a:ln>
        </p:spPr>
        <p:txBody>
          <a:bodyPr wrap="square" rtlCol="0">
            <a:spAutoFit/>
          </a:bodyPr>
          <a:lstStyle/>
          <a:p>
            <a:pPr algn="ctr"/>
            <a:r>
              <a:rPr lang="en-US" dirty="0"/>
              <a:t>Label</a:t>
            </a:r>
          </a:p>
        </p:txBody>
      </p:sp>
      <p:sp>
        <p:nvSpPr>
          <p:cNvPr id="12" name="TextBox 11">
            <a:extLst>
              <a:ext uri="{FF2B5EF4-FFF2-40B4-BE49-F238E27FC236}">
                <a16:creationId xmlns:a16="http://schemas.microsoft.com/office/drawing/2014/main" id="{028DDB27-9427-02B1-B1EC-D35C9EFFED82}"/>
              </a:ext>
            </a:extLst>
          </p:cNvPr>
          <p:cNvSpPr txBox="1"/>
          <p:nvPr/>
        </p:nvSpPr>
        <p:spPr>
          <a:xfrm>
            <a:off x="4394095" y="1053084"/>
            <a:ext cx="1651103" cy="369332"/>
          </a:xfrm>
          <a:prstGeom prst="rect">
            <a:avLst/>
          </a:prstGeom>
          <a:noFill/>
          <a:ln>
            <a:noFill/>
          </a:ln>
        </p:spPr>
        <p:txBody>
          <a:bodyPr wrap="square" rtlCol="0">
            <a:spAutoFit/>
          </a:bodyPr>
          <a:lstStyle/>
          <a:p>
            <a:pPr algn="ctr"/>
            <a:r>
              <a:rPr lang="en-US" dirty="0"/>
              <a:t>Overlay</a:t>
            </a:r>
          </a:p>
        </p:txBody>
      </p:sp>
      <p:sp>
        <p:nvSpPr>
          <p:cNvPr id="13" name="TextBox 12">
            <a:extLst>
              <a:ext uri="{FF2B5EF4-FFF2-40B4-BE49-F238E27FC236}">
                <a16:creationId xmlns:a16="http://schemas.microsoft.com/office/drawing/2014/main" id="{0DD630EF-21B1-B2FB-A3BE-000D903A23E4}"/>
              </a:ext>
            </a:extLst>
          </p:cNvPr>
          <p:cNvSpPr txBox="1"/>
          <p:nvPr/>
        </p:nvSpPr>
        <p:spPr>
          <a:xfrm rot="16200000">
            <a:off x="-625554" y="2418783"/>
            <a:ext cx="1651103" cy="369332"/>
          </a:xfrm>
          <a:prstGeom prst="rect">
            <a:avLst/>
          </a:prstGeom>
          <a:noFill/>
          <a:ln>
            <a:noFill/>
          </a:ln>
        </p:spPr>
        <p:txBody>
          <a:bodyPr wrap="square" rtlCol="0">
            <a:spAutoFit/>
          </a:bodyPr>
          <a:lstStyle/>
          <a:p>
            <a:pPr algn="ctr"/>
            <a:r>
              <a:rPr lang="en-US" dirty="0"/>
              <a:t>Original</a:t>
            </a:r>
          </a:p>
        </p:txBody>
      </p:sp>
      <p:sp>
        <p:nvSpPr>
          <p:cNvPr id="14" name="TextBox 13">
            <a:extLst>
              <a:ext uri="{FF2B5EF4-FFF2-40B4-BE49-F238E27FC236}">
                <a16:creationId xmlns:a16="http://schemas.microsoft.com/office/drawing/2014/main" id="{4A423A08-79BA-D6EE-AF2F-13B882ABEC04}"/>
              </a:ext>
            </a:extLst>
          </p:cNvPr>
          <p:cNvSpPr txBox="1"/>
          <p:nvPr/>
        </p:nvSpPr>
        <p:spPr>
          <a:xfrm rot="16200000">
            <a:off x="-628194" y="5218677"/>
            <a:ext cx="1651103" cy="369332"/>
          </a:xfrm>
          <a:prstGeom prst="rect">
            <a:avLst/>
          </a:prstGeom>
          <a:noFill/>
          <a:ln>
            <a:noFill/>
          </a:ln>
        </p:spPr>
        <p:txBody>
          <a:bodyPr wrap="square" rtlCol="0">
            <a:spAutoFit/>
          </a:bodyPr>
          <a:lstStyle/>
          <a:p>
            <a:pPr algn="ctr"/>
            <a:r>
              <a:rPr lang="en-US" dirty="0"/>
              <a:t>Nasal ROI</a:t>
            </a:r>
          </a:p>
        </p:txBody>
      </p:sp>
      <p:sp>
        <p:nvSpPr>
          <p:cNvPr id="15" name="TextBox 14">
            <a:extLst>
              <a:ext uri="{FF2B5EF4-FFF2-40B4-BE49-F238E27FC236}">
                <a16:creationId xmlns:a16="http://schemas.microsoft.com/office/drawing/2014/main" id="{1CEB3082-918F-B566-DEC1-3AC07EF3FF98}"/>
              </a:ext>
            </a:extLst>
          </p:cNvPr>
          <p:cNvSpPr txBox="1"/>
          <p:nvPr/>
        </p:nvSpPr>
        <p:spPr>
          <a:xfrm>
            <a:off x="6442663" y="1067181"/>
            <a:ext cx="1651103" cy="369332"/>
          </a:xfrm>
          <a:prstGeom prst="rect">
            <a:avLst/>
          </a:prstGeom>
          <a:noFill/>
          <a:ln>
            <a:noFill/>
          </a:ln>
        </p:spPr>
        <p:txBody>
          <a:bodyPr wrap="square" rtlCol="0">
            <a:spAutoFit/>
          </a:bodyPr>
          <a:lstStyle/>
          <a:p>
            <a:pPr algn="ctr"/>
            <a:r>
              <a:rPr lang="en-US" dirty="0"/>
              <a:t>Raw Image</a:t>
            </a:r>
          </a:p>
        </p:txBody>
      </p:sp>
      <p:sp>
        <p:nvSpPr>
          <p:cNvPr id="16" name="TextBox 15">
            <a:extLst>
              <a:ext uri="{FF2B5EF4-FFF2-40B4-BE49-F238E27FC236}">
                <a16:creationId xmlns:a16="http://schemas.microsoft.com/office/drawing/2014/main" id="{9E42F08C-1155-A9D8-AECF-3C74F60FE8EF}"/>
              </a:ext>
            </a:extLst>
          </p:cNvPr>
          <p:cNvSpPr txBox="1"/>
          <p:nvPr/>
        </p:nvSpPr>
        <p:spPr>
          <a:xfrm>
            <a:off x="8449370" y="1067181"/>
            <a:ext cx="1651103" cy="369332"/>
          </a:xfrm>
          <a:prstGeom prst="rect">
            <a:avLst/>
          </a:prstGeom>
          <a:noFill/>
          <a:ln>
            <a:noFill/>
          </a:ln>
        </p:spPr>
        <p:txBody>
          <a:bodyPr wrap="square" rtlCol="0">
            <a:spAutoFit/>
          </a:bodyPr>
          <a:lstStyle/>
          <a:p>
            <a:pPr algn="ctr"/>
            <a:r>
              <a:rPr lang="en-US" dirty="0"/>
              <a:t>Label</a:t>
            </a:r>
          </a:p>
        </p:txBody>
      </p:sp>
      <p:sp>
        <p:nvSpPr>
          <p:cNvPr id="17" name="TextBox 16">
            <a:extLst>
              <a:ext uri="{FF2B5EF4-FFF2-40B4-BE49-F238E27FC236}">
                <a16:creationId xmlns:a16="http://schemas.microsoft.com/office/drawing/2014/main" id="{23DDF947-639A-C8D1-FFDD-FB4B350AA0A1}"/>
              </a:ext>
            </a:extLst>
          </p:cNvPr>
          <p:cNvSpPr txBox="1"/>
          <p:nvPr/>
        </p:nvSpPr>
        <p:spPr>
          <a:xfrm>
            <a:off x="10443058" y="1067181"/>
            <a:ext cx="1651103" cy="369332"/>
          </a:xfrm>
          <a:prstGeom prst="rect">
            <a:avLst/>
          </a:prstGeom>
          <a:noFill/>
          <a:ln>
            <a:noFill/>
          </a:ln>
        </p:spPr>
        <p:txBody>
          <a:bodyPr wrap="square" rtlCol="0">
            <a:spAutoFit/>
          </a:bodyPr>
          <a:lstStyle/>
          <a:p>
            <a:pPr algn="ctr"/>
            <a:r>
              <a:rPr lang="en-US" dirty="0"/>
              <a:t>Overlay</a:t>
            </a:r>
          </a:p>
        </p:txBody>
      </p:sp>
      <p:sp>
        <p:nvSpPr>
          <p:cNvPr id="18" name="TextBox 17">
            <a:extLst>
              <a:ext uri="{FF2B5EF4-FFF2-40B4-BE49-F238E27FC236}">
                <a16:creationId xmlns:a16="http://schemas.microsoft.com/office/drawing/2014/main" id="{B24FFDAC-AF74-CBAC-3EC7-C439C25C0350}"/>
              </a:ext>
            </a:extLst>
          </p:cNvPr>
          <p:cNvSpPr txBox="1"/>
          <p:nvPr/>
        </p:nvSpPr>
        <p:spPr>
          <a:xfrm rot="16200000">
            <a:off x="5418990" y="2164782"/>
            <a:ext cx="1651103" cy="369332"/>
          </a:xfrm>
          <a:prstGeom prst="rect">
            <a:avLst/>
          </a:prstGeom>
          <a:noFill/>
          <a:ln>
            <a:noFill/>
          </a:ln>
        </p:spPr>
        <p:txBody>
          <a:bodyPr wrap="square" rtlCol="0">
            <a:spAutoFit/>
          </a:bodyPr>
          <a:lstStyle/>
          <a:p>
            <a:pPr algn="ctr"/>
            <a:r>
              <a:rPr lang="en-US" dirty="0"/>
              <a:t>Exp 1</a:t>
            </a:r>
          </a:p>
        </p:txBody>
      </p:sp>
      <p:sp>
        <p:nvSpPr>
          <p:cNvPr id="19" name="TextBox 18">
            <a:extLst>
              <a:ext uri="{FF2B5EF4-FFF2-40B4-BE49-F238E27FC236}">
                <a16:creationId xmlns:a16="http://schemas.microsoft.com/office/drawing/2014/main" id="{4BA16B0E-306C-8F82-9B57-571B74B4FC51}"/>
              </a:ext>
            </a:extLst>
          </p:cNvPr>
          <p:cNvSpPr txBox="1"/>
          <p:nvPr/>
        </p:nvSpPr>
        <p:spPr>
          <a:xfrm rot="16200000">
            <a:off x="5418990" y="3965896"/>
            <a:ext cx="1651103" cy="369332"/>
          </a:xfrm>
          <a:prstGeom prst="rect">
            <a:avLst/>
          </a:prstGeom>
          <a:noFill/>
          <a:ln>
            <a:noFill/>
          </a:ln>
        </p:spPr>
        <p:txBody>
          <a:bodyPr wrap="square" rtlCol="0">
            <a:spAutoFit/>
          </a:bodyPr>
          <a:lstStyle/>
          <a:p>
            <a:pPr algn="ctr"/>
            <a:r>
              <a:rPr lang="en-US" dirty="0"/>
              <a:t>Exp 2</a:t>
            </a:r>
          </a:p>
        </p:txBody>
      </p:sp>
      <p:sp>
        <p:nvSpPr>
          <p:cNvPr id="20" name="TextBox 19">
            <a:extLst>
              <a:ext uri="{FF2B5EF4-FFF2-40B4-BE49-F238E27FC236}">
                <a16:creationId xmlns:a16="http://schemas.microsoft.com/office/drawing/2014/main" id="{DD87CCFF-2765-2918-90BF-B828F0627348}"/>
              </a:ext>
            </a:extLst>
          </p:cNvPr>
          <p:cNvSpPr txBox="1"/>
          <p:nvPr/>
        </p:nvSpPr>
        <p:spPr>
          <a:xfrm rot="16200000">
            <a:off x="5418990" y="5767009"/>
            <a:ext cx="1651103" cy="369332"/>
          </a:xfrm>
          <a:prstGeom prst="rect">
            <a:avLst/>
          </a:prstGeom>
          <a:noFill/>
          <a:ln>
            <a:noFill/>
          </a:ln>
        </p:spPr>
        <p:txBody>
          <a:bodyPr wrap="square" rtlCol="0">
            <a:spAutoFit/>
          </a:bodyPr>
          <a:lstStyle/>
          <a:p>
            <a:pPr algn="ctr"/>
            <a:r>
              <a:rPr lang="en-US" dirty="0"/>
              <a:t>Exp 3</a:t>
            </a:r>
          </a:p>
        </p:txBody>
      </p:sp>
      <p:pic>
        <p:nvPicPr>
          <p:cNvPr id="8202" name="Picture 10">
            <a:extLst>
              <a:ext uri="{FF2B5EF4-FFF2-40B4-BE49-F238E27FC236}">
                <a16:creationId xmlns:a16="http://schemas.microsoft.com/office/drawing/2014/main" id="{658F0D99-DD21-1195-3CAD-AA095304D1CE}"/>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l="3040" t="10729" r="71993" b="74497"/>
          <a:stretch>
            <a:fillRect/>
          </a:stretch>
        </p:blipFill>
        <p:spPr bwMode="auto">
          <a:xfrm>
            <a:off x="415915" y="1777896"/>
            <a:ext cx="1693407" cy="1651104"/>
          </a:xfrm>
          <a:prstGeom prst="rect">
            <a:avLst/>
          </a:prstGeom>
          <a:noFill/>
          <a:extLst>
            <a:ext uri="{909E8E84-426E-40DD-AFC4-6F175D3DCCD1}">
              <a14:hiddenFill xmlns:a14="http://schemas.microsoft.com/office/drawing/2010/main">
                <a:solidFill>
                  <a:srgbClr val="FFFFFF"/>
                </a:solidFill>
              </a14:hiddenFill>
            </a:ext>
          </a:extLst>
        </p:spPr>
      </p:pic>
      <p:pic>
        <p:nvPicPr>
          <p:cNvPr id="40" name="Picture 10">
            <a:extLst>
              <a:ext uri="{FF2B5EF4-FFF2-40B4-BE49-F238E27FC236}">
                <a16:creationId xmlns:a16="http://schemas.microsoft.com/office/drawing/2014/main" id="{4162B76A-4330-5656-5A75-B9E9D56F8EF3}"/>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l="4566" t="29441" r="73454" b="56200"/>
          <a:stretch>
            <a:fillRect/>
          </a:stretch>
        </p:blipFill>
        <p:spPr bwMode="auto">
          <a:xfrm>
            <a:off x="458219" y="4557981"/>
            <a:ext cx="1651103" cy="1670914"/>
          </a:xfrm>
          <a:prstGeom prst="rect">
            <a:avLst/>
          </a:prstGeom>
          <a:noFill/>
          <a:extLst>
            <a:ext uri="{909E8E84-426E-40DD-AFC4-6F175D3DCCD1}">
              <a14:hiddenFill xmlns:a14="http://schemas.microsoft.com/office/drawing/2010/main">
                <a:solidFill>
                  <a:srgbClr val="FFFFFF"/>
                </a:solidFill>
              </a14:hiddenFill>
            </a:ext>
          </a:extLst>
        </p:spPr>
      </p:pic>
      <p:pic>
        <p:nvPicPr>
          <p:cNvPr id="41" name="Picture 10">
            <a:extLst>
              <a:ext uri="{FF2B5EF4-FFF2-40B4-BE49-F238E27FC236}">
                <a16:creationId xmlns:a16="http://schemas.microsoft.com/office/drawing/2014/main" id="{BA961011-BCAA-07FD-106C-ACDD5FA68CB3}"/>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l="38520" t="10999" r="37072" b="75157"/>
          <a:stretch>
            <a:fillRect/>
          </a:stretch>
        </p:blipFill>
        <p:spPr bwMode="auto">
          <a:xfrm>
            <a:off x="2373304" y="1788646"/>
            <a:ext cx="1693407" cy="1651104"/>
          </a:xfrm>
          <a:prstGeom prst="rect">
            <a:avLst/>
          </a:prstGeom>
          <a:noFill/>
          <a:extLst>
            <a:ext uri="{909E8E84-426E-40DD-AFC4-6F175D3DCCD1}">
              <a14:hiddenFill xmlns:a14="http://schemas.microsoft.com/office/drawing/2010/main">
                <a:solidFill>
                  <a:srgbClr val="FFFFFF"/>
                </a:solidFill>
              </a14:hiddenFill>
            </a:ext>
          </a:extLst>
        </p:spPr>
      </p:pic>
      <p:pic>
        <p:nvPicPr>
          <p:cNvPr id="42" name="Picture 10">
            <a:extLst>
              <a:ext uri="{FF2B5EF4-FFF2-40B4-BE49-F238E27FC236}">
                <a16:creationId xmlns:a16="http://schemas.microsoft.com/office/drawing/2014/main" id="{AFD84C1D-8C77-79AA-0003-F82F73D90525}"/>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l="74169" t="10999" r="864" b="74294"/>
          <a:stretch>
            <a:fillRect/>
          </a:stretch>
        </p:blipFill>
        <p:spPr bwMode="auto">
          <a:xfrm>
            <a:off x="4326170" y="1783271"/>
            <a:ext cx="1729181" cy="1661854"/>
          </a:xfrm>
          <a:prstGeom prst="rect">
            <a:avLst/>
          </a:prstGeom>
          <a:noFill/>
          <a:extLst>
            <a:ext uri="{909E8E84-426E-40DD-AFC4-6F175D3DCCD1}">
              <a14:hiddenFill xmlns:a14="http://schemas.microsoft.com/office/drawing/2010/main">
                <a:solidFill>
                  <a:srgbClr val="FFFFFF"/>
                </a:solidFill>
              </a14:hiddenFill>
            </a:ext>
          </a:extLst>
        </p:spPr>
      </p:pic>
      <p:pic>
        <p:nvPicPr>
          <p:cNvPr id="44" name="Picture 10">
            <a:extLst>
              <a:ext uri="{FF2B5EF4-FFF2-40B4-BE49-F238E27FC236}">
                <a16:creationId xmlns:a16="http://schemas.microsoft.com/office/drawing/2014/main" id="{D4AABE96-1247-9B0B-D557-DCFC8F56F2A6}"/>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l="40446" t="29137" r="37966" b="56504"/>
          <a:stretch>
            <a:fillRect/>
          </a:stretch>
        </p:blipFill>
        <p:spPr bwMode="auto">
          <a:xfrm>
            <a:off x="2371042" y="4557979"/>
            <a:ext cx="1693407" cy="1670915"/>
          </a:xfrm>
          <a:prstGeom prst="rect">
            <a:avLst/>
          </a:prstGeom>
          <a:noFill/>
          <a:extLst>
            <a:ext uri="{909E8E84-426E-40DD-AFC4-6F175D3DCCD1}">
              <a14:hiddenFill xmlns:a14="http://schemas.microsoft.com/office/drawing/2010/main">
                <a:solidFill>
                  <a:srgbClr val="FFFFFF"/>
                </a:solidFill>
              </a14:hiddenFill>
            </a:ext>
          </a:extLst>
        </p:spPr>
      </p:pic>
      <p:pic>
        <p:nvPicPr>
          <p:cNvPr id="45" name="Picture 10">
            <a:extLst>
              <a:ext uri="{FF2B5EF4-FFF2-40B4-BE49-F238E27FC236}">
                <a16:creationId xmlns:a16="http://schemas.microsoft.com/office/drawing/2014/main" id="{E930D661-B008-9556-58AC-E61B39FBFEC6}"/>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l="75723" t="29337" r="2689" b="56304"/>
          <a:stretch>
            <a:fillRect/>
          </a:stretch>
        </p:blipFill>
        <p:spPr bwMode="auto">
          <a:xfrm>
            <a:off x="4326170" y="4570679"/>
            <a:ext cx="1693407" cy="1670915"/>
          </a:xfrm>
          <a:prstGeom prst="rect">
            <a:avLst/>
          </a:prstGeom>
          <a:noFill/>
          <a:extLst>
            <a:ext uri="{909E8E84-426E-40DD-AFC4-6F175D3DCCD1}">
              <a14:hiddenFill xmlns:a14="http://schemas.microsoft.com/office/drawing/2010/main">
                <a:solidFill>
                  <a:srgbClr val="FFFFFF"/>
                </a:solidFill>
              </a14:hiddenFill>
            </a:ext>
          </a:extLst>
        </p:spPr>
      </p:pic>
      <p:pic>
        <p:nvPicPr>
          <p:cNvPr id="46" name="Picture 10">
            <a:extLst>
              <a:ext uri="{FF2B5EF4-FFF2-40B4-BE49-F238E27FC236}">
                <a16:creationId xmlns:a16="http://schemas.microsoft.com/office/drawing/2014/main" id="{872D00AA-8521-1474-3079-7BC1FA8B08F9}"/>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l="4405" t="47725" r="73615" b="37916"/>
          <a:stretch>
            <a:fillRect/>
          </a:stretch>
        </p:blipFill>
        <p:spPr bwMode="auto">
          <a:xfrm>
            <a:off x="6424684" y="1523896"/>
            <a:ext cx="1651103" cy="1670914"/>
          </a:xfrm>
          <a:prstGeom prst="rect">
            <a:avLst/>
          </a:prstGeom>
          <a:noFill/>
          <a:extLst>
            <a:ext uri="{909E8E84-426E-40DD-AFC4-6F175D3DCCD1}">
              <a14:hiddenFill xmlns:a14="http://schemas.microsoft.com/office/drawing/2010/main">
                <a:solidFill>
                  <a:srgbClr val="FFFFFF"/>
                </a:solidFill>
              </a14:hiddenFill>
            </a:ext>
          </a:extLst>
        </p:spPr>
      </p:pic>
      <p:pic>
        <p:nvPicPr>
          <p:cNvPr id="47" name="Picture 10">
            <a:extLst>
              <a:ext uri="{FF2B5EF4-FFF2-40B4-BE49-F238E27FC236}">
                <a16:creationId xmlns:a16="http://schemas.microsoft.com/office/drawing/2014/main" id="{AA2FE164-E739-7A86-241C-AD8A23544C99}"/>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l="40362" t="47725" r="37658" b="37916"/>
          <a:stretch>
            <a:fillRect/>
          </a:stretch>
        </p:blipFill>
        <p:spPr bwMode="auto">
          <a:xfrm>
            <a:off x="8449370" y="1523896"/>
            <a:ext cx="1651103" cy="1670914"/>
          </a:xfrm>
          <a:prstGeom prst="rect">
            <a:avLst/>
          </a:prstGeom>
          <a:noFill/>
          <a:extLst>
            <a:ext uri="{909E8E84-426E-40DD-AFC4-6F175D3DCCD1}">
              <a14:hiddenFill xmlns:a14="http://schemas.microsoft.com/office/drawing/2010/main">
                <a:solidFill>
                  <a:srgbClr val="FFFFFF"/>
                </a:solidFill>
              </a14:hiddenFill>
            </a:ext>
          </a:extLst>
        </p:spPr>
      </p:pic>
      <p:pic>
        <p:nvPicPr>
          <p:cNvPr id="48" name="Picture 10">
            <a:extLst>
              <a:ext uri="{FF2B5EF4-FFF2-40B4-BE49-F238E27FC236}">
                <a16:creationId xmlns:a16="http://schemas.microsoft.com/office/drawing/2014/main" id="{BBA74744-7D4A-5564-F819-52B3F0A2B401}"/>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l="75817" t="47817" r="2203" b="37824"/>
          <a:stretch>
            <a:fillRect/>
          </a:stretch>
        </p:blipFill>
        <p:spPr bwMode="auto">
          <a:xfrm>
            <a:off x="10443057" y="1523896"/>
            <a:ext cx="1651103" cy="1670914"/>
          </a:xfrm>
          <a:prstGeom prst="rect">
            <a:avLst/>
          </a:prstGeom>
          <a:noFill/>
          <a:extLst>
            <a:ext uri="{909E8E84-426E-40DD-AFC4-6F175D3DCCD1}">
              <a14:hiddenFill xmlns:a14="http://schemas.microsoft.com/office/drawing/2010/main">
                <a:solidFill>
                  <a:srgbClr val="FFFFFF"/>
                </a:solidFill>
              </a14:hiddenFill>
            </a:ext>
          </a:extLst>
        </p:spPr>
      </p:pic>
      <p:pic>
        <p:nvPicPr>
          <p:cNvPr id="49" name="Picture 10">
            <a:extLst>
              <a:ext uri="{FF2B5EF4-FFF2-40B4-BE49-F238E27FC236}">
                <a16:creationId xmlns:a16="http://schemas.microsoft.com/office/drawing/2014/main" id="{E07E0EBE-6430-8743-3ADA-FE8529E7CDDD}"/>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l="4405" t="47725" r="73615" b="37916"/>
          <a:stretch>
            <a:fillRect/>
          </a:stretch>
        </p:blipFill>
        <p:spPr bwMode="auto">
          <a:xfrm>
            <a:off x="6451358" y="3355889"/>
            <a:ext cx="1651103" cy="1670914"/>
          </a:xfrm>
          <a:prstGeom prst="rect">
            <a:avLst/>
          </a:prstGeom>
          <a:noFill/>
          <a:extLst>
            <a:ext uri="{909E8E84-426E-40DD-AFC4-6F175D3DCCD1}">
              <a14:hiddenFill xmlns:a14="http://schemas.microsoft.com/office/drawing/2010/main">
                <a:solidFill>
                  <a:srgbClr val="FFFFFF"/>
                </a:solidFill>
              </a14:hiddenFill>
            </a:ext>
          </a:extLst>
        </p:spPr>
      </p:pic>
      <p:pic>
        <p:nvPicPr>
          <p:cNvPr id="50" name="Picture 10">
            <a:extLst>
              <a:ext uri="{FF2B5EF4-FFF2-40B4-BE49-F238E27FC236}">
                <a16:creationId xmlns:a16="http://schemas.microsoft.com/office/drawing/2014/main" id="{BDE1F88A-79BD-4492-FB4C-897087B2A4F6}"/>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l="4405" t="47725" r="73615" b="37916"/>
          <a:stretch>
            <a:fillRect/>
          </a:stretch>
        </p:blipFill>
        <p:spPr bwMode="auto">
          <a:xfrm>
            <a:off x="6463371" y="5159684"/>
            <a:ext cx="1651103" cy="1670914"/>
          </a:xfrm>
          <a:prstGeom prst="rect">
            <a:avLst/>
          </a:prstGeom>
          <a:noFill/>
          <a:extLst>
            <a:ext uri="{909E8E84-426E-40DD-AFC4-6F175D3DCCD1}">
              <a14:hiddenFill xmlns:a14="http://schemas.microsoft.com/office/drawing/2010/main">
                <a:solidFill>
                  <a:srgbClr val="FFFFFF"/>
                </a:solidFill>
              </a14:hiddenFill>
            </a:ext>
          </a:extLst>
        </p:spPr>
      </p:pic>
      <p:pic>
        <p:nvPicPr>
          <p:cNvPr id="51" name="Picture 10">
            <a:extLst>
              <a:ext uri="{FF2B5EF4-FFF2-40B4-BE49-F238E27FC236}">
                <a16:creationId xmlns:a16="http://schemas.microsoft.com/office/drawing/2014/main" id="{1B84FD29-1D0C-4D04-EB64-98E4840F5404}"/>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l="40141" t="66494" r="37879" b="19147"/>
          <a:stretch>
            <a:fillRect/>
          </a:stretch>
        </p:blipFill>
        <p:spPr bwMode="auto">
          <a:xfrm>
            <a:off x="8449370" y="3355889"/>
            <a:ext cx="1651103" cy="1670914"/>
          </a:xfrm>
          <a:prstGeom prst="rect">
            <a:avLst/>
          </a:prstGeom>
          <a:noFill/>
          <a:extLst>
            <a:ext uri="{909E8E84-426E-40DD-AFC4-6F175D3DCCD1}">
              <a14:hiddenFill xmlns:a14="http://schemas.microsoft.com/office/drawing/2010/main">
                <a:solidFill>
                  <a:srgbClr val="FFFFFF"/>
                </a:solidFill>
              </a14:hiddenFill>
            </a:ext>
          </a:extLst>
        </p:spPr>
      </p:pic>
      <p:pic>
        <p:nvPicPr>
          <p:cNvPr id="52" name="Picture 10">
            <a:extLst>
              <a:ext uri="{FF2B5EF4-FFF2-40B4-BE49-F238E27FC236}">
                <a16:creationId xmlns:a16="http://schemas.microsoft.com/office/drawing/2014/main" id="{3E51301B-A499-F703-A3F0-8F6FE2FDA67B}"/>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l="40531" t="85169" r="37489" b="472"/>
          <a:stretch>
            <a:fillRect/>
          </a:stretch>
        </p:blipFill>
        <p:spPr bwMode="auto">
          <a:xfrm>
            <a:off x="8449369" y="5159684"/>
            <a:ext cx="1651103" cy="1670914"/>
          </a:xfrm>
          <a:prstGeom prst="rect">
            <a:avLst/>
          </a:prstGeom>
          <a:noFill/>
          <a:extLst>
            <a:ext uri="{909E8E84-426E-40DD-AFC4-6F175D3DCCD1}">
              <a14:hiddenFill xmlns:a14="http://schemas.microsoft.com/office/drawing/2010/main">
                <a:solidFill>
                  <a:srgbClr val="FFFFFF"/>
                </a:solidFill>
              </a14:hiddenFill>
            </a:ext>
          </a:extLst>
        </p:spPr>
      </p:pic>
      <p:pic>
        <p:nvPicPr>
          <p:cNvPr id="53" name="Picture 10">
            <a:extLst>
              <a:ext uri="{FF2B5EF4-FFF2-40B4-BE49-F238E27FC236}">
                <a16:creationId xmlns:a16="http://schemas.microsoft.com/office/drawing/2014/main" id="{9523F30D-568F-FB26-0F10-1B641EA1CD54}"/>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l="75817" t="66350" r="2203" b="19291"/>
          <a:stretch>
            <a:fillRect/>
          </a:stretch>
        </p:blipFill>
        <p:spPr bwMode="auto">
          <a:xfrm>
            <a:off x="10443056" y="3325010"/>
            <a:ext cx="1651103" cy="1670914"/>
          </a:xfrm>
          <a:prstGeom prst="rect">
            <a:avLst/>
          </a:prstGeom>
          <a:noFill/>
          <a:extLst>
            <a:ext uri="{909E8E84-426E-40DD-AFC4-6F175D3DCCD1}">
              <a14:hiddenFill xmlns:a14="http://schemas.microsoft.com/office/drawing/2010/main">
                <a:solidFill>
                  <a:srgbClr val="FFFFFF"/>
                </a:solidFill>
              </a14:hiddenFill>
            </a:ext>
          </a:extLst>
        </p:spPr>
      </p:pic>
      <p:pic>
        <p:nvPicPr>
          <p:cNvPr id="54" name="Picture 10">
            <a:extLst>
              <a:ext uri="{FF2B5EF4-FFF2-40B4-BE49-F238E27FC236}">
                <a16:creationId xmlns:a16="http://schemas.microsoft.com/office/drawing/2014/main" id="{DC8A0E2D-EA97-56E3-E832-BDA89FEBEA05}"/>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l="75595" t="84513" r="2425" b="1298"/>
          <a:stretch>
            <a:fillRect/>
          </a:stretch>
        </p:blipFill>
        <p:spPr bwMode="auto">
          <a:xfrm>
            <a:off x="10435367" y="5169588"/>
            <a:ext cx="1651103" cy="165110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27302858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AECA91DA-88B3-65BC-0274-9967173C8C1E}"/>
              </a:ext>
            </a:extLst>
          </p:cNvPr>
          <p:cNvSpPr txBox="1"/>
          <p:nvPr/>
        </p:nvSpPr>
        <p:spPr>
          <a:xfrm>
            <a:off x="936433" y="694062"/>
            <a:ext cx="9077899" cy="925417"/>
          </a:xfrm>
          <a:prstGeom prst="rect">
            <a:avLst/>
          </a:prstGeom>
          <a:noFill/>
        </p:spPr>
        <p:txBody>
          <a:bodyPr wrap="square" rtlCol="0">
            <a:spAutoFit/>
          </a:bodyPr>
          <a:lstStyle/>
          <a:p>
            <a:r>
              <a:rPr lang="en-US" dirty="0"/>
              <a:t>Link to the dataset: </a:t>
            </a:r>
            <a:r>
              <a:rPr lang="en-US" dirty="0">
                <a:hlinkClick r:id="rId2"/>
              </a:rPr>
              <a:t>https://drive.google.com/drive/folders/193_1ABszK4mLQScXwUZvtFmlgsvzx6Fc?usp=drive_link</a:t>
            </a:r>
            <a:r>
              <a:rPr lang="en-US" dirty="0"/>
              <a:t> (</a:t>
            </a:r>
            <a:r>
              <a:rPr lang="en-US" dirty="0" err="1"/>
              <a:t>sudah</a:t>
            </a:r>
            <a:r>
              <a:rPr lang="en-US" dirty="0"/>
              <a:t> </a:t>
            </a:r>
            <a:r>
              <a:rPr lang="en-US" dirty="0" err="1"/>
              <a:t>ada</a:t>
            </a:r>
            <a:r>
              <a:rPr lang="en-US" dirty="0"/>
              <a:t> di GPU </a:t>
            </a:r>
            <a:r>
              <a:rPr lang="en-US" dirty="0" err="1"/>
              <a:t>dengan</a:t>
            </a:r>
            <a:r>
              <a:rPr lang="en-US" dirty="0"/>
              <a:t> nama folder normal case_86)</a:t>
            </a:r>
          </a:p>
        </p:txBody>
      </p:sp>
      <p:sp>
        <p:nvSpPr>
          <p:cNvPr id="3" name="TextBox 2">
            <a:extLst>
              <a:ext uri="{FF2B5EF4-FFF2-40B4-BE49-F238E27FC236}">
                <a16:creationId xmlns:a16="http://schemas.microsoft.com/office/drawing/2014/main" id="{6CF44EAA-0FD0-4E81-D343-B93F4BFD8F7D}"/>
              </a:ext>
            </a:extLst>
          </p:cNvPr>
          <p:cNvSpPr txBox="1"/>
          <p:nvPr/>
        </p:nvSpPr>
        <p:spPr>
          <a:xfrm>
            <a:off x="925417" y="2269475"/>
            <a:ext cx="9099932" cy="3693319"/>
          </a:xfrm>
          <a:prstGeom prst="rect">
            <a:avLst/>
          </a:prstGeom>
          <a:noFill/>
        </p:spPr>
        <p:txBody>
          <a:bodyPr wrap="square" rtlCol="0">
            <a:spAutoFit/>
          </a:bodyPr>
          <a:lstStyle/>
          <a:p>
            <a:r>
              <a:rPr lang="en-US" dirty="0"/>
              <a:t>Caution:</a:t>
            </a:r>
          </a:p>
          <a:p>
            <a:pPr marL="342900" indent="-342900">
              <a:buAutoNum type="arabicPeriod"/>
            </a:pPr>
            <a:r>
              <a:rPr lang="en-US" dirty="0"/>
              <a:t>Please make sure the ROI is in the correct position</a:t>
            </a:r>
          </a:p>
          <a:p>
            <a:pPr marL="342900" indent="-342900">
              <a:buAutoNum type="arabicPeriod"/>
            </a:pPr>
            <a:r>
              <a:rPr lang="en-US" dirty="0"/>
              <a:t>The maximum label is 18 but not every patient has it all. </a:t>
            </a:r>
            <a:r>
              <a:rPr lang="en-US" dirty="0" err="1"/>
              <a:t>Thats</a:t>
            </a:r>
            <a:r>
              <a:rPr lang="en-US" dirty="0"/>
              <a:t> why we reduce the experiment currently just to 3 experiment first. The most important is finding the Drainage Pathway later.</a:t>
            </a:r>
          </a:p>
          <a:p>
            <a:pPr marL="342900" indent="-342900">
              <a:buAutoNum type="arabicPeriod"/>
            </a:pPr>
            <a:r>
              <a:rPr lang="en-US" dirty="0"/>
              <a:t>Before start the experiment, make sure all the image file have a same spacing and/or same size with the label. If they do not have the same spacing, leave it. Make notes on it.</a:t>
            </a:r>
          </a:p>
          <a:p>
            <a:pPr marL="342900" indent="-342900">
              <a:buAutoNum type="arabicPeriod"/>
            </a:pPr>
            <a:r>
              <a:rPr lang="en-US" dirty="0"/>
              <a:t>Use pretrained model (</a:t>
            </a:r>
            <a:r>
              <a:rPr lang="en-US"/>
              <a:t>3 model) and </a:t>
            </a:r>
            <a:r>
              <a:rPr lang="en-US" dirty="0"/>
              <a:t>just use 70% of the dataset for fine tuning. The rest 30% will be for testing.</a:t>
            </a:r>
          </a:p>
          <a:p>
            <a:pPr marL="342900" indent="-342900">
              <a:buAutoNum type="arabicPeriod"/>
            </a:pPr>
            <a:r>
              <a:rPr lang="en-US" dirty="0"/>
              <a:t>There is a dataset name </a:t>
            </a:r>
            <a:r>
              <a:rPr lang="en-US" dirty="0" err="1"/>
              <a:t>NasalSeg</a:t>
            </a:r>
            <a:r>
              <a:rPr lang="en-US" dirty="0"/>
              <a:t>. They can be used as an additional test dataset. They did not have the same label so we can just predict and give the prediction to the doctor to judge. Blind model test.</a:t>
            </a:r>
          </a:p>
        </p:txBody>
      </p:sp>
    </p:spTree>
    <p:extLst>
      <p:ext uri="{BB962C8B-B14F-4D97-AF65-F5344CB8AC3E}">
        <p14:creationId xmlns:p14="http://schemas.microsoft.com/office/powerpoint/2010/main" val="271047852"/>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ptos Display"/>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12</TotalTime>
  <Words>765</Words>
  <Application>Microsoft Macintosh PowerPoint</Application>
  <PresentationFormat>Widescreen</PresentationFormat>
  <Paragraphs>73</Paragraphs>
  <Slides>6</Slides>
  <Notes>2</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6</vt:i4>
      </vt:variant>
    </vt:vector>
  </HeadingPairs>
  <TitlesOfParts>
    <vt:vector size="11" baseType="lpstr">
      <vt:lpstr>Aptos Display</vt:lpstr>
      <vt:lpstr>Arial</vt:lpstr>
      <vt:lpstr>Cambria Math</vt:lpstr>
      <vt:lpstr>Century Schoolbook</vt:lpstr>
      <vt:lpstr>Office Theme</vt:lpstr>
      <vt:lpstr>PowerPoint Presentation</vt:lpstr>
      <vt:lpstr>PowerPoint Presentation</vt:lpstr>
      <vt:lpstr>PowerPoint Presentation</vt:lpstr>
      <vt:lpstr>PowerPoint Presentation</vt:lpstr>
      <vt:lpstr>PowerPoint Presentation</vt:lpstr>
      <vt:lpstr>PowerPoint Presentation</vt:lpstr>
    </vt:vector>
  </TitlesOfParts>
  <Company>OpenAI</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Frontal Sinus Drainage Pathway - Introduction</dc:title>
  <dc:subject>Importance of frontal sinus drainage pathway</dc:subject>
  <dc:creator>OpenAI</dc:creator>
  <cp:lastModifiedBy>M10812094</cp:lastModifiedBy>
  <cp:revision>4</cp:revision>
  <dcterms:created xsi:type="dcterms:W3CDTF">2026-08-11T05:19:52Z</dcterms:created>
  <dcterms:modified xsi:type="dcterms:W3CDTF">2026-09-15T06:34:31Z</dcterms:modified>
</cp:coreProperties>
</file>